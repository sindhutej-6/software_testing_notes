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7" r:id="rId3"/>
    <p:sldId id="257" r:id="rId4"/>
    <p:sldId id="258" r:id="rId5"/>
    <p:sldId id="259" r:id="rId6"/>
    <p:sldId id="260" r:id="rId7"/>
    <p:sldId id="261" r:id="rId8"/>
    <p:sldId id="262" r:id="rId9"/>
    <p:sldId id="263" r:id="rId10"/>
    <p:sldId id="264" r:id="rId11"/>
    <p:sldId id="279" r:id="rId12"/>
    <p:sldId id="278" r:id="rId13"/>
    <p:sldId id="281" r:id="rId14"/>
    <p:sldId id="282" r:id="rId15"/>
    <p:sldId id="283" r:id="rId16"/>
    <p:sldId id="265" r:id="rId17"/>
    <p:sldId id="266" r:id="rId18"/>
    <p:sldId id="274" r:id="rId19"/>
    <p:sldId id="275" r:id="rId20"/>
    <p:sldId id="276" r:id="rId21"/>
    <p:sldId id="267" r:id="rId22"/>
    <p:sldId id="268" r:id="rId23"/>
    <p:sldId id="269" r:id="rId24"/>
    <p:sldId id="270" r:id="rId25"/>
    <p:sldId id="271" r:id="rId26"/>
    <p:sldId id="272" r:id="rId27"/>
    <p:sldId id="27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A0F46EF-8BD3-47AE-9C98-B454BDF127DF}"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488917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46EF-8BD3-47AE-9C98-B454BDF127DF}"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4138080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A0F46EF-8BD3-47AE-9C98-B454BDF127DF}"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4555274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A0F46EF-8BD3-47AE-9C98-B454BDF127DF}"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34382123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A0F46EF-8BD3-47AE-9C98-B454BDF127DF}" type="datetimeFigureOut">
              <a:rPr lang="en-US" smtClean="0"/>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2536750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A0F46EF-8BD3-47AE-9C98-B454BDF127DF}" type="datetimeFigureOut">
              <a:rPr lang="en-US" smtClean="0"/>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3320667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0F46EF-8BD3-47AE-9C98-B454BDF127DF}" type="datetimeFigureOut">
              <a:rPr lang="en-US" smtClean="0"/>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36972449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0F46EF-8BD3-47AE-9C98-B454BDF127DF}"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4064716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A0F46EF-8BD3-47AE-9C98-B454BDF127DF}" type="datetimeFigureOut">
              <a:rPr lang="en-US" smtClean="0"/>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1398823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46EF-8BD3-47AE-9C98-B454BDF127DF}"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2609111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A0F46EF-8BD3-47AE-9C98-B454BDF127DF}" type="datetimeFigureOut">
              <a:rPr lang="en-US" smtClean="0"/>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B2D23D-8455-46B0-ACCF-5D71C514EA4F}" type="slidenum">
              <a:rPr lang="en-US" smtClean="0"/>
              <a:t>‹#›</a:t>
            </a:fld>
            <a:endParaRPr lang="en-US"/>
          </a:p>
        </p:txBody>
      </p:sp>
    </p:spTree>
    <p:extLst>
      <p:ext uri="{BB962C8B-B14F-4D97-AF65-F5344CB8AC3E}">
        <p14:creationId xmlns:p14="http://schemas.microsoft.com/office/powerpoint/2010/main" val="3246150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0F46EF-8BD3-47AE-9C98-B454BDF127DF}" type="datetimeFigureOut">
              <a:rPr lang="en-US" smtClean="0"/>
              <a:t>10/16/2026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AB2D23D-8455-46B0-ACCF-5D71C514EA4F}" type="slidenum">
              <a:rPr lang="en-US" smtClean="0"/>
              <a:t>‹#›</a:t>
            </a:fld>
            <a:endParaRPr lang="en-US"/>
          </a:p>
        </p:txBody>
      </p:sp>
    </p:spTree>
    <p:extLst>
      <p:ext uri="{BB962C8B-B14F-4D97-AF65-F5344CB8AC3E}">
        <p14:creationId xmlns:p14="http://schemas.microsoft.com/office/powerpoint/2010/main" val="22426487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93576-C08B-145B-5DA2-DA031A7FAD15}"/>
              </a:ext>
            </a:extLst>
          </p:cNvPr>
          <p:cNvSpPr>
            <a:spLocks noGrp="1"/>
          </p:cNvSpPr>
          <p:nvPr>
            <p:ph type="title"/>
          </p:nvPr>
        </p:nvSpPr>
        <p:spPr>
          <a:xfrm>
            <a:off x="1305560" y="2824481"/>
            <a:ext cx="10515600" cy="3718559"/>
          </a:xfrm>
        </p:spPr>
        <p:txBody>
          <a:bodyPr>
            <a:normAutofit fontScale="90000"/>
          </a:bodyPr>
          <a:lstStyle/>
          <a:p>
            <a:r>
              <a:rPr lang="en-US" dirty="0">
                <a:solidFill>
                  <a:srgbClr val="C00000"/>
                </a:solidFill>
                <a:latin typeface="Times New Roman" panose="02020603050405020304" pitchFamily="18" charset="0"/>
                <a:cs typeface="Times New Roman" panose="02020603050405020304" pitchFamily="18" charset="0"/>
              </a:rPr>
              <a:t>              </a:t>
            </a:r>
            <a:r>
              <a:rPr lang="en-US" dirty="0">
                <a:solidFill>
                  <a:srgbClr val="C00000"/>
                </a:solidFill>
                <a:highlight>
                  <a:srgbClr val="FFFF00"/>
                </a:highlight>
                <a:latin typeface="Times New Roman" panose="02020603050405020304" pitchFamily="18" charset="0"/>
                <a:cs typeface="Times New Roman" panose="02020603050405020304" pitchFamily="18" charset="0"/>
              </a:rPr>
              <a:t>SOFTWARE  ENGINEERING</a:t>
            </a:r>
            <a:br>
              <a:rPr lang="en-US" dirty="0">
                <a:solidFill>
                  <a:srgbClr val="C00000"/>
                </a:solidFill>
              </a:rPr>
            </a:br>
            <a:br>
              <a:rPr lang="en-US" sz="3100" b="1" dirty="0">
                <a:solidFill>
                  <a:srgbClr val="C00000"/>
                </a:solidFill>
              </a:rPr>
            </a:br>
            <a:r>
              <a:rPr lang="en-US" sz="3100" b="1" dirty="0">
                <a:solidFill>
                  <a:srgbClr val="FF0000"/>
                </a:solidFill>
                <a:latin typeface="Times New Roman" panose="02020603050405020304" pitchFamily="18" charset="0"/>
                <a:cs typeface="Times New Roman" panose="02020603050405020304" pitchFamily="18" charset="0"/>
              </a:rPr>
              <a:t>INTRODUCTION Of  SOFTWARE:</a:t>
            </a:r>
            <a:br>
              <a:rPr lang="en-US" sz="3100" dirty="0">
                <a:solidFill>
                  <a:srgbClr val="040C28"/>
                </a:solidFill>
                <a:latin typeface="Times New Roman" panose="02020603050405020304" pitchFamily="18" charset="0"/>
                <a:cs typeface="Times New Roman" panose="02020603050405020304" pitchFamily="18" charset="0"/>
              </a:rPr>
            </a:br>
            <a:br>
              <a:rPr lang="en-US" sz="28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1.It is a systematic, disciplines, cost effective techniques for software development</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2.engineering approach to develop a software.</a:t>
            </a:r>
            <a:br>
              <a:rPr lang="en-US" sz="3100" b="0" i="0" dirty="0">
                <a:solidFill>
                  <a:srgbClr val="040C28"/>
                </a:solidFill>
                <a:effectLst/>
                <a:latin typeface="Times New Roman" panose="02020603050405020304" pitchFamily="18" charset="0"/>
                <a:cs typeface="Times New Roman" panose="02020603050405020304" pitchFamily="18" charset="0"/>
              </a:rPr>
            </a:b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Evolution:</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1945-65 ………… Origin …………</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1965-85 ………… Crisis  …………. </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1990-2000 ……… Internet ………..</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2000-2010 ……… Light weight</a:t>
            </a:r>
            <a:br>
              <a:rPr lang="en-US" sz="3100" b="0" i="0" dirty="0">
                <a:solidFill>
                  <a:srgbClr val="040C28"/>
                </a:solidFill>
                <a:effectLst/>
                <a:latin typeface="Times New Roman" panose="02020603050405020304" pitchFamily="18" charset="0"/>
                <a:cs typeface="Times New Roman" panose="02020603050405020304" pitchFamily="18" charset="0"/>
              </a:rPr>
            </a:br>
            <a:r>
              <a:rPr lang="en-US" sz="3100" b="0" i="0" dirty="0">
                <a:solidFill>
                  <a:srgbClr val="040C28"/>
                </a:solidFill>
                <a:effectLst/>
                <a:latin typeface="Times New Roman" panose="02020603050405020304" pitchFamily="18" charset="0"/>
                <a:cs typeface="Times New Roman" panose="02020603050405020304" pitchFamily="18" charset="0"/>
              </a:rPr>
              <a:t>2010-Till ………... AI,ML,DL</a:t>
            </a:r>
            <a:br>
              <a:rPr lang="en-US" sz="3100" b="0" i="0" dirty="0">
                <a:solidFill>
                  <a:srgbClr val="040C28"/>
                </a:solidFill>
                <a:effectLst/>
                <a:latin typeface="Times New Roman" panose="02020603050405020304" pitchFamily="18" charset="0"/>
                <a:cs typeface="Times New Roman" panose="02020603050405020304" pitchFamily="18" charset="0"/>
              </a:rPr>
            </a:br>
            <a:br>
              <a:rPr lang="en-US" sz="2800" dirty="0">
                <a:solidFill>
                  <a:srgbClr val="C00000"/>
                </a:solidFill>
              </a:rPr>
            </a:br>
            <a:r>
              <a:rPr lang="en-US" sz="2800" dirty="0">
                <a:solidFill>
                  <a:srgbClr val="C00000"/>
                </a:solidFill>
              </a:rPr>
              <a:t> </a:t>
            </a:r>
            <a:br>
              <a:rPr lang="en-US" sz="2800" dirty="0">
                <a:solidFill>
                  <a:srgbClr val="C00000"/>
                </a:solidFill>
              </a:rPr>
            </a:br>
            <a:br>
              <a:rPr lang="en-US" dirty="0">
                <a:solidFill>
                  <a:srgbClr val="C00000"/>
                </a:solidFill>
              </a:rPr>
            </a:br>
            <a:br>
              <a:rPr lang="en-US" dirty="0">
                <a:solidFill>
                  <a:srgbClr val="C00000"/>
                </a:solidFill>
              </a:rPr>
            </a:br>
            <a:br>
              <a:rPr lang="en-US" dirty="0">
                <a:solidFill>
                  <a:srgbClr val="C00000"/>
                </a:solidFill>
              </a:rPr>
            </a:br>
            <a:endParaRPr lang="en-US" dirty="0">
              <a:solidFill>
                <a:srgbClr val="C00000"/>
              </a:solidFill>
            </a:endParaRPr>
          </a:p>
        </p:txBody>
      </p:sp>
    </p:spTree>
    <p:extLst>
      <p:ext uri="{BB962C8B-B14F-4D97-AF65-F5344CB8AC3E}">
        <p14:creationId xmlns:p14="http://schemas.microsoft.com/office/powerpoint/2010/main" val="1620773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7079B3-EEB2-B15D-25F9-9A11A2832937}"/>
              </a:ext>
            </a:extLst>
          </p:cNvPr>
          <p:cNvSpPr>
            <a:spLocks noGrp="1"/>
          </p:cNvSpPr>
          <p:nvPr>
            <p:ph type="ctrTitle"/>
          </p:nvPr>
        </p:nvSpPr>
        <p:spPr>
          <a:xfrm>
            <a:off x="1524000" y="1122363"/>
            <a:ext cx="9144000" cy="782637"/>
          </a:xfrm>
        </p:spPr>
        <p:txBody>
          <a:bodyPr>
            <a:normAutofit/>
          </a:bodyPr>
          <a:lstStyle/>
          <a:p>
            <a:r>
              <a:rPr lang="en-US" sz="4000" b="1" dirty="0">
                <a:solidFill>
                  <a:srgbClr val="C00000"/>
                </a:solidFill>
              </a:rPr>
              <a:t>SDLC </a:t>
            </a:r>
          </a:p>
        </p:txBody>
      </p:sp>
      <p:sp>
        <p:nvSpPr>
          <p:cNvPr id="4" name="Subtitle 3">
            <a:extLst>
              <a:ext uri="{FF2B5EF4-FFF2-40B4-BE49-F238E27FC236}">
                <a16:creationId xmlns:a16="http://schemas.microsoft.com/office/drawing/2014/main" id="{C56E5B3A-1208-2114-46CB-261D5DBC9211}"/>
              </a:ext>
            </a:extLst>
          </p:cNvPr>
          <p:cNvSpPr>
            <a:spLocks noGrp="1"/>
          </p:cNvSpPr>
          <p:nvPr>
            <p:ph type="subTitle" idx="1"/>
          </p:nvPr>
        </p:nvSpPr>
        <p:spPr>
          <a:xfrm>
            <a:off x="1371600" y="2034495"/>
            <a:ext cx="9144000" cy="4311875"/>
          </a:xfrm>
        </p:spPr>
        <p:txBody>
          <a:bodyPr>
            <a:normAutofit/>
          </a:bodyPr>
          <a:lstStyle/>
          <a:p>
            <a:pPr algn="l"/>
            <a:r>
              <a:rPr lang="en-US" sz="2800" dirty="0">
                <a:latin typeface="Times New Roman" panose="02020603050405020304" pitchFamily="18" charset="0"/>
                <a:cs typeface="Times New Roman" panose="02020603050405020304" pitchFamily="18" charset="0"/>
              </a:rPr>
              <a:t>1. </a:t>
            </a:r>
            <a:r>
              <a:rPr lang="en-US" sz="2800" i="0" dirty="0">
                <a:effectLst/>
                <a:latin typeface="Times New Roman" panose="02020603050405020304" pitchFamily="18" charset="0"/>
                <a:cs typeface="Times New Roman" panose="02020603050405020304" pitchFamily="18" charset="0"/>
              </a:rPr>
              <a:t>Software development life cycle (SDLC) is a structured process that is used to design, develop, and test good-quality software.</a:t>
            </a:r>
          </a:p>
          <a:p>
            <a:pPr algn="l"/>
            <a:r>
              <a:rPr lang="en-US" sz="2800" dirty="0">
                <a:latin typeface="Times New Roman" panose="02020603050405020304" pitchFamily="18" charset="0"/>
                <a:cs typeface="Times New Roman" panose="02020603050405020304" pitchFamily="18" charset="0"/>
              </a:rPr>
              <a:t>2.</a:t>
            </a:r>
            <a:r>
              <a:rPr lang="en-US" sz="2800" i="0" dirty="0">
                <a:effectLst/>
                <a:latin typeface="Times New Roman" panose="02020603050405020304" pitchFamily="18" charset="0"/>
                <a:cs typeface="Times New Roman" panose="02020603050405020304" pitchFamily="18" charset="0"/>
              </a:rPr>
              <a:t> SDLC, or software development life cycle, is a methodology that defines the entire procedure of software development step-by-step.</a:t>
            </a:r>
          </a:p>
          <a:p>
            <a:pPr algn="l"/>
            <a:r>
              <a:rPr lang="en-US" sz="2800" i="0" dirty="0">
                <a:effectLst/>
                <a:latin typeface="Times New Roman" panose="02020603050405020304" pitchFamily="18" charset="0"/>
                <a:cs typeface="Times New Roman" panose="02020603050405020304" pitchFamily="18" charset="0"/>
              </a:rPr>
              <a:t>3. To develop a software we will follo</a:t>
            </a:r>
            <a:r>
              <a:rPr lang="en-US" sz="2800" dirty="0">
                <a:latin typeface="Times New Roman" panose="02020603050405020304" pitchFamily="18" charset="0"/>
                <a:cs typeface="Times New Roman" panose="02020603050405020304" pitchFamily="18" charset="0"/>
              </a:rPr>
              <a:t>w the different stages.</a:t>
            </a:r>
            <a:endParaRPr lang="en-US" sz="280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6462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9" name="Rectangle 5128">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5131" name="Rectangle 5130">
            <a:extLst>
              <a:ext uri="{FF2B5EF4-FFF2-40B4-BE49-F238E27FC236}">
                <a16:creationId xmlns:a16="http://schemas.microsoft.com/office/drawing/2014/main" id="{5428AC11-BFDF-42EF-80FF-717BBF909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8628" y="1408629"/>
            <a:ext cx="6858000"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3" name="Rectangle 5132">
            <a:extLst>
              <a:ext uri="{FF2B5EF4-FFF2-40B4-BE49-F238E27FC236}">
                <a16:creationId xmlns:a16="http://schemas.microsoft.com/office/drawing/2014/main" id="{2CC56AF6-38E4-490B-8E2B-1A1037B4E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832"/>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5" name="Rectangle 5134">
            <a:extLst>
              <a:ext uri="{FF2B5EF4-FFF2-40B4-BE49-F238E27FC236}">
                <a16:creationId xmlns:a16="http://schemas.microsoft.com/office/drawing/2014/main" id="{2339A6F5-AD6A-4D80-8AD9-6290D13AC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513"/>
            <a:ext cx="6857572" cy="3581401"/>
          </a:xfrm>
          <a:prstGeom prst="rect">
            <a:avLst/>
          </a:prstGeom>
          <a:gradFill>
            <a:gsLst>
              <a:gs pos="0">
                <a:srgbClr val="000000">
                  <a:alpha val="61000"/>
                </a:srgbClr>
              </a:gs>
              <a:gs pos="95000">
                <a:schemeClr val="accent5">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7F9843F-57DC-BC04-D4B8-F52E751E1872}"/>
              </a:ext>
            </a:extLst>
          </p:cNvPr>
          <p:cNvSpPr>
            <a:spLocks noGrp="1"/>
          </p:cNvSpPr>
          <p:nvPr>
            <p:ph type="title"/>
          </p:nvPr>
        </p:nvSpPr>
        <p:spPr>
          <a:xfrm>
            <a:off x="660042" y="2945176"/>
            <a:ext cx="2878688" cy="2757975"/>
          </a:xfrm>
        </p:spPr>
        <p:txBody>
          <a:bodyPr vert="horz" lIns="91440" tIns="45720" rIns="91440" bIns="45720" rtlCol="0" anchor="t">
            <a:normAutofit/>
          </a:bodyPr>
          <a:lstStyle/>
          <a:p>
            <a:r>
              <a:rPr lang="en-US" sz="4000" b="1">
                <a:solidFill>
                  <a:srgbClr val="FFFFFF"/>
                </a:solidFill>
              </a:rPr>
              <a:t>Software Development Life Cycle</a:t>
            </a:r>
          </a:p>
        </p:txBody>
      </p:sp>
      <p:pic>
        <p:nvPicPr>
          <p:cNvPr id="5122" name="Picture 2" descr="Software Development Life Cycle (SDLC) - GeeksforGeeks">
            <a:extLst>
              <a:ext uri="{FF2B5EF4-FFF2-40B4-BE49-F238E27FC236}">
                <a16:creationId xmlns:a16="http://schemas.microsoft.com/office/drawing/2014/main" id="{253CC361-0B6D-233E-EE9F-0F0A89E3DD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5217" y="2642017"/>
            <a:ext cx="3147413" cy="1573706"/>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oftware Development Life Cycle: At a Glance | by N. Krish | Medium">
            <a:extLst>
              <a:ext uri="{FF2B5EF4-FFF2-40B4-BE49-F238E27FC236}">
                <a16:creationId xmlns:a16="http://schemas.microsoft.com/office/drawing/2014/main" id="{9139615C-27F6-CAAA-9F57-0E7F1E65C9ED}"/>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266414" y="1861942"/>
            <a:ext cx="3141973" cy="31341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7665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5F86F20-A029-180A-8C5E-44B1473ED02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Classic Waterfall Model:</a:t>
            </a:r>
          </a:p>
        </p:txBody>
      </p:sp>
      <p:pic>
        <p:nvPicPr>
          <p:cNvPr id="10" name="Picture 9" descr="A diagram of a software development">
            <a:extLst>
              <a:ext uri="{FF2B5EF4-FFF2-40B4-BE49-F238E27FC236}">
                <a16:creationId xmlns:a16="http://schemas.microsoft.com/office/drawing/2014/main" id="{52996A08-9F20-6393-B385-E08CB683AE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2427" y="1377905"/>
            <a:ext cx="7029531" cy="4817607"/>
          </a:xfrm>
          <a:prstGeom prst="rect">
            <a:avLst/>
          </a:prstGeom>
        </p:spPr>
      </p:pic>
    </p:spTree>
    <p:extLst>
      <p:ext uri="{BB962C8B-B14F-4D97-AF65-F5344CB8AC3E}">
        <p14:creationId xmlns:p14="http://schemas.microsoft.com/office/powerpoint/2010/main" val="3465526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4669B1B-9C04-FA4A-EB55-6F13110FF1D2}"/>
              </a:ext>
            </a:extLst>
          </p:cNvPr>
          <p:cNvSpPr>
            <a:spLocks noGrp="1"/>
          </p:cNvSpPr>
          <p:nvPr>
            <p:ph type="title"/>
          </p:nvPr>
        </p:nvSpPr>
        <p:spPr>
          <a:xfrm>
            <a:off x="838200" y="365125"/>
            <a:ext cx="10515600" cy="600519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ADVANTAGES</a:t>
            </a:r>
            <a:r>
              <a:rPr lang="en-US" sz="3600" b="1" dirty="0">
                <a:solidFill>
                  <a:srgbClr val="FF0000"/>
                </a:solidFill>
                <a:latin typeface="Times New Roman" panose="02020603050405020304" pitchFamily="18" charset="0"/>
                <a:cs typeface="Times New Roman" panose="02020603050405020304" pitchFamily="18" charset="0"/>
              </a:rPr>
              <a:t>:</a:t>
            </a:r>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1.Base Model.</a:t>
            </a:r>
            <a:br>
              <a:rPr lang="en-US" sz="2800" b="1" dirty="0">
                <a:latin typeface="Times New Roman" panose="02020603050405020304" pitchFamily="18" charset="0"/>
                <a:cs typeface="Times New Roman" panose="02020603050405020304" pitchFamily="18" charset="0"/>
              </a:rPr>
            </a:b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  2.Simple and Easy.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3.Small Projects</a:t>
            </a:r>
            <a:r>
              <a:rPr lang="en-US" sz="3600" dirty="0">
                <a:latin typeface="Times New Roman" panose="02020603050405020304" pitchFamily="18" charset="0"/>
                <a:cs typeface="Times New Roman" panose="02020603050405020304" pitchFamily="18" charset="0"/>
              </a:rPr>
              <a:t>.</a:t>
            </a:r>
            <a:br>
              <a:rPr lang="en-US" sz="3600" dirty="0">
                <a:latin typeface="Times New Roman" panose="02020603050405020304" pitchFamily="18" charset="0"/>
                <a:cs typeface="Times New Roman" panose="02020603050405020304" pitchFamily="18" charset="0"/>
              </a:rPr>
            </a:br>
            <a:br>
              <a:rPr lang="en-US" sz="3600" dirty="0">
                <a:latin typeface="Times New Roman" panose="02020603050405020304" pitchFamily="18" charset="0"/>
                <a:cs typeface="Times New Roman" panose="02020603050405020304" pitchFamily="18" charset="0"/>
              </a:rPr>
            </a:br>
            <a:r>
              <a:rPr lang="en-US" sz="3200" b="1" dirty="0">
                <a:solidFill>
                  <a:srgbClr val="FF0000"/>
                </a:solidFill>
                <a:latin typeface="Times New Roman" panose="02020603050405020304" pitchFamily="18" charset="0"/>
                <a:cs typeface="Times New Roman" panose="02020603050405020304" pitchFamily="18" charset="0"/>
              </a:rPr>
              <a:t>DISADVANTAGES</a:t>
            </a:r>
            <a:r>
              <a:rPr lang="en-US" sz="3600" b="1" dirty="0">
                <a:solidFill>
                  <a:srgbClr val="FF0000"/>
                </a:solidFill>
                <a:latin typeface="Times New Roman" panose="02020603050405020304" pitchFamily="18" charset="0"/>
                <a:cs typeface="Times New Roman" panose="02020603050405020304" pitchFamily="18" charset="0"/>
              </a:rPr>
              <a:t>:</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1.No Feedback.</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2.No Experiment.</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3.No Parallelism.</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4.High Risk.</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5.Rigid model</a:t>
            </a:r>
            <a:r>
              <a:rPr lang="en-US" sz="3600" dirty="0">
                <a:latin typeface="Times New Roman" panose="02020603050405020304" pitchFamily="18" charset="0"/>
                <a:cs typeface="Times New Roman" panose="02020603050405020304" pitchFamily="18" charset="0"/>
              </a:rPr>
              <a:t>.</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		      </a:t>
            </a:r>
            <a:br>
              <a:rPr lang="en-US" sz="1800" dirty="0">
                <a:latin typeface="Times New Roman" panose="02020603050405020304" pitchFamily="18" charset="0"/>
                <a:cs typeface="Times New Roman" panose="02020603050405020304" pitchFamily="18" charset="0"/>
              </a:rPr>
            </a:b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060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51"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5C311D-9412-5F50-0C56-27AA197CF737}"/>
              </a:ext>
            </a:extLst>
          </p:cNvPr>
          <p:cNvSpPr>
            <a:spLocks noGrp="1"/>
          </p:cNvSpPr>
          <p:nvPr>
            <p:ph type="title"/>
          </p:nvPr>
        </p:nvSpPr>
        <p:spPr>
          <a:xfrm>
            <a:off x="1028700" y="1967266"/>
            <a:ext cx="2628900" cy="2547257"/>
          </a:xfrm>
          <a:noFill/>
        </p:spPr>
        <p:txBody>
          <a:bodyPr anchor="ctr">
            <a:normAutofit/>
          </a:bodyPr>
          <a:lstStyle/>
          <a:p>
            <a:pPr algn="ctr"/>
            <a:r>
              <a:rPr lang="en-US" sz="2800" b="1">
                <a:solidFill>
                  <a:srgbClr val="FFFFFF"/>
                </a:solidFill>
                <a:latin typeface="Times New Roman" panose="02020603050405020304" pitchFamily="18" charset="0"/>
                <a:cs typeface="Times New Roman" panose="02020603050405020304" pitchFamily="18" charset="0"/>
              </a:rPr>
              <a:t>                    ITERACTIVE MODEL</a:t>
            </a:r>
          </a:p>
        </p:txBody>
      </p:sp>
      <p:pic>
        <p:nvPicPr>
          <p:cNvPr id="6146" name="Picture 2" descr="Iterative Waterfall Model | Software Engineering">
            <a:extLst>
              <a:ext uri="{FF2B5EF4-FFF2-40B4-BE49-F238E27FC236}">
                <a16:creationId xmlns:a16="http://schemas.microsoft.com/office/drawing/2014/main" id="{7B386E02-ECAF-7156-A23D-24371439DE1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777316" y="1366762"/>
            <a:ext cx="6780700" cy="4122146"/>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2" descr="Iterative Waterfall Model. | Download Scientific Diagram">
            <a:extLst>
              <a:ext uri="{FF2B5EF4-FFF2-40B4-BE49-F238E27FC236}">
                <a16:creationId xmlns:a16="http://schemas.microsoft.com/office/drawing/2014/main" id="{E274C253-6D80-3BE9-5CB7-F06E761C6F6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5191529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D5DE1-EB4F-FB5A-2127-4C6EB418A992}"/>
              </a:ext>
            </a:extLst>
          </p:cNvPr>
          <p:cNvSpPr>
            <a:spLocks noGrp="1"/>
          </p:cNvSpPr>
          <p:nvPr>
            <p:ph type="title"/>
          </p:nvPr>
        </p:nvSpPr>
        <p:spPr>
          <a:xfrm>
            <a:off x="685800" y="304482"/>
            <a:ext cx="10515600" cy="6249035"/>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ADVANTAGES:</a:t>
            </a:r>
            <a:br>
              <a:rPr lang="en-US"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1.Base Model.</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2.Simple and Easy.</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3.Small Projects.</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4.Feedback.</a:t>
            </a:r>
            <a:br>
              <a:rPr lang="en-US" sz="2800" dirty="0">
                <a:latin typeface="Times New Roman" panose="02020603050405020304" pitchFamily="18" charset="0"/>
                <a:cs typeface="Times New Roman" panose="02020603050405020304" pitchFamily="18" charset="0"/>
              </a:rPr>
            </a:br>
            <a:r>
              <a:rPr lang="en-US" sz="3200" b="1" dirty="0">
                <a:solidFill>
                  <a:srgbClr val="FF0000"/>
                </a:solidFill>
                <a:latin typeface="Times New Roman" panose="02020603050405020304" pitchFamily="18" charset="0"/>
                <a:cs typeface="Times New Roman" panose="02020603050405020304" pitchFamily="18" charset="0"/>
              </a:rPr>
              <a:t>DISADVANTAGES: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1.No Phase Overlapping.</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2.Rigid(No change).</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3.Less Customer Interaction.</a:t>
            </a: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4.No Intermediate Delivery.</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6299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D533F-D05D-49BB-E518-528868DC3EF6}"/>
              </a:ext>
            </a:extLst>
          </p:cNvPr>
          <p:cNvSpPr>
            <a:spLocks noGrp="1"/>
          </p:cNvSpPr>
          <p:nvPr>
            <p:ph type="ctrTitle"/>
          </p:nvPr>
        </p:nvSpPr>
        <p:spPr>
          <a:xfrm>
            <a:off x="925286" y="549366"/>
            <a:ext cx="9144000" cy="1783079"/>
          </a:xfrm>
        </p:spPr>
        <p:txBody>
          <a:bodyPr>
            <a:normAutofit fontScale="90000"/>
          </a:bodyPr>
          <a:lstStyle/>
          <a:p>
            <a:pPr algn="ctr"/>
            <a:br>
              <a:rPr lang="en-US" b="1" dirty="0"/>
            </a:br>
            <a:br>
              <a:rPr lang="en-US" b="1" dirty="0"/>
            </a:br>
            <a:br>
              <a:rPr lang="en-US" b="1" dirty="0"/>
            </a:br>
            <a:br>
              <a:rPr lang="en-US" b="1" dirty="0"/>
            </a:br>
            <a:r>
              <a:rPr lang="en-US" b="1" dirty="0"/>
              <a:t>                                                                                              </a:t>
            </a:r>
            <a:r>
              <a:rPr lang="en-US" sz="4400" b="1" dirty="0">
                <a:solidFill>
                  <a:srgbClr val="C00000"/>
                </a:solidFill>
              </a:rPr>
              <a:t>V SHAPED MODEL</a:t>
            </a:r>
            <a:br>
              <a:rPr lang="en-US" b="1" dirty="0"/>
            </a:br>
            <a:endParaRPr lang="en-US" b="1" dirty="0"/>
          </a:p>
        </p:txBody>
      </p:sp>
      <p:sp>
        <p:nvSpPr>
          <p:cNvPr id="3" name="Subtitle 2">
            <a:extLst>
              <a:ext uri="{FF2B5EF4-FFF2-40B4-BE49-F238E27FC236}">
                <a16:creationId xmlns:a16="http://schemas.microsoft.com/office/drawing/2014/main" id="{EFDC335A-11AE-7660-14CC-CEE304CF2DDE}"/>
              </a:ext>
            </a:extLst>
          </p:cNvPr>
          <p:cNvSpPr>
            <a:spLocks noGrp="1"/>
          </p:cNvSpPr>
          <p:nvPr>
            <p:ph type="subTitle" idx="1"/>
          </p:nvPr>
        </p:nvSpPr>
        <p:spPr>
          <a:xfrm>
            <a:off x="1295400" y="2332445"/>
            <a:ext cx="9845040" cy="3698240"/>
          </a:xfrm>
        </p:spPr>
        <p:txBody>
          <a:bodyPr>
            <a:normAutofit/>
          </a:bodyPr>
          <a:lstStyle/>
          <a:p>
            <a:pPr marL="571500" indent="-571500" algn="l">
              <a:buFont typeface="Arial" panose="020B0604020202020204" pitchFamily="34" charset="0"/>
              <a:buChar char="•"/>
            </a:pPr>
            <a:r>
              <a:rPr lang="en-US" sz="2800" dirty="0"/>
              <a:t>Also Known as Verification and Validation Model.</a:t>
            </a:r>
          </a:p>
          <a:p>
            <a:pPr marL="571500" indent="-571500" algn="l">
              <a:buFont typeface="Arial" panose="020B0604020202020204" pitchFamily="34" charset="0"/>
              <a:buChar char="•"/>
            </a:pPr>
            <a:r>
              <a:rPr lang="en-US" sz="2800" dirty="0"/>
              <a:t>Extension of Waterfall Model.</a:t>
            </a:r>
          </a:p>
          <a:p>
            <a:pPr marL="571500" indent="-571500" algn="l">
              <a:buFont typeface="Arial" panose="020B0604020202020204" pitchFamily="34" charset="0"/>
              <a:buChar char="•"/>
            </a:pPr>
            <a:r>
              <a:rPr lang="en-US" sz="2800" dirty="0"/>
              <a:t>Testing is Associated with Every phase of Lifecycle.</a:t>
            </a:r>
          </a:p>
          <a:p>
            <a:pPr marL="571500" indent="-571500" algn="l">
              <a:buFont typeface="Arial" panose="020B0604020202020204" pitchFamily="34" charset="0"/>
              <a:buChar char="•"/>
            </a:pPr>
            <a:r>
              <a:rPr lang="en-US" sz="2800" dirty="0"/>
              <a:t>Verification Phase(Requirement analysis, System design, Architecture design, Module design).</a:t>
            </a:r>
          </a:p>
          <a:p>
            <a:pPr marL="571500" indent="-571500" algn="l">
              <a:buFont typeface="Arial" panose="020B0604020202020204" pitchFamily="34" charset="0"/>
              <a:buChar char="•"/>
            </a:pPr>
            <a:r>
              <a:rPr lang="en-US" sz="2800" dirty="0"/>
              <a:t>Validation Phase(Unit Testing, Integration, System, Acceptance Testing.</a:t>
            </a:r>
          </a:p>
        </p:txBody>
      </p:sp>
    </p:spTree>
    <p:extLst>
      <p:ext uri="{BB962C8B-B14F-4D97-AF65-F5344CB8AC3E}">
        <p14:creationId xmlns:p14="http://schemas.microsoft.com/office/powerpoint/2010/main" val="2663542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Freeform: Shape 308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39AFCB1-E62A-6882-4EE5-3BBD3141DE71}"/>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b="1" kern="1200">
                <a:solidFill>
                  <a:srgbClr val="FFFFFF"/>
                </a:solidFill>
                <a:latin typeface="+mj-lt"/>
                <a:ea typeface="+mj-ea"/>
                <a:cs typeface="+mj-cs"/>
              </a:rPr>
              <a:t>V MODEL ARCHITECTURE</a:t>
            </a:r>
          </a:p>
        </p:txBody>
      </p:sp>
      <p:pic>
        <p:nvPicPr>
          <p:cNvPr id="3074" name="Picture 2" descr="V-model (Software Engineering) - javatpoint">
            <a:extLst>
              <a:ext uri="{FF2B5EF4-FFF2-40B4-BE49-F238E27FC236}">
                <a16:creationId xmlns:a16="http://schemas.microsoft.com/office/drawing/2014/main" id="{C5FAF830-1F74-5012-3DD8-B4853B7B432C}"/>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02428" y="538701"/>
            <a:ext cx="7225748" cy="5780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422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2FE1-953F-C056-69E1-CCB31D17C4D1}"/>
              </a:ext>
            </a:extLst>
          </p:cNvPr>
          <p:cNvSpPr>
            <a:spLocks noGrp="1"/>
          </p:cNvSpPr>
          <p:nvPr>
            <p:ph type="ctrTitle"/>
          </p:nvPr>
        </p:nvSpPr>
        <p:spPr>
          <a:xfrm>
            <a:off x="1524000" y="782320"/>
            <a:ext cx="9144000" cy="2727643"/>
          </a:xfrm>
          <a:effectLst/>
        </p:spPr>
        <p:txBody>
          <a:bodyPr>
            <a:normAutofit fontScale="90000"/>
          </a:bodyPr>
          <a:lstStyle/>
          <a:p>
            <a:pPr algn="l"/>
            <a:br>
              <a:rPr lang="en-US" sz="4000" b="1" dirty="0"/>
            </a:br>
            <a:br>
              <a:rPr lang="en-US" sz="4000" b="1" dirty="0"/>
            </a:br>
            <a:r>
              <a:rPr lang="en-US" sz="3600" b="1" dirty="0">
                <a:solidFill>
                  <a:srgbClr val="FF0000"/>
                </a:solidFill>
                <a:latin typeface="Times New Roman" panose="02020603050405020304" pitchFamily="18" charset="0"/>
                <a:cs typeface="Times New Roman" panose="02020603050405020304" pitchFamily="18" charset="0"/>
              </a:rPr>
              <a:t>ADVANTAGES:</a:t>
            </a:r>
            <a:br>
              <a:rPr lang="en-US" sz="4000" b="1" dirty="0"/>
            </a:br>
            <a:r>
              <a:rPr lang="en-US" sz="4000" b="1" dirty="0">
                <a:latin typeface="Times New Roman" panose="02020603050405020304" pitchFamily="18" charset="0"/>
                <a:cs typeface="Times New Roman" panose="02020603050405020304" pitchFamily="18" charset="0"/>
              </a:rPr>
              <a:t>                </a:t>
            </a:r>
            <a:r>
              <a:rPr lang="en-US" sz="3100" b="1" dirty="0">
                <a:latin typeface="Times New Roman" panose="02020603050405020304" pitchFamily="18" charset="0"/>
                <a:cs typeface="Times New Roman" panose="02020603050405020304" pitchFamily="18" charset="0"/>
              </a:rPr>
              <a:t>1.</a:t>
            </a:r>
            <a:r>
              <a:rPr lang="en-US" sz="3100" dirty="0">
                <a:latin typeface="Times New Roman" panose="02020603050405020304" pitchFamily="18" charset="0"/>
                <a:cs typeface="Times New Roman" panose="02020603050405020304" pitchFamily="18" charset="0"/>
              </a:rPr>
              <a:t>Time Saving</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2.Good Understanding of Project in the            </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beginning</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3.Every Component must be testable.</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4.Progress can be tracked easily.</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5.Proactive defect tracking</a:t>
            </a:r>
            <a:r>
              <a:rPr lang="en-US" sz="4000" dirty="0"/>
              <a:t>.</a:t>
            </a:r>
            <a:endParaRPr lang="en-US" sz="4000" b="1" dirty="0"/>
          </a:p>
        </p:txBody>
      </p:sp>
      <p:sp>
        <p:nvSpPr>
          <p:cNvPr id="3" name="Subtitle 2">
            <a:extLst>
              <a:ext uri="{FF2B5EF4-FFF2-40B4-BE49-F238E27FC236}">
                <a16:creationId xmlns:a16="http://schemas.microsoft.com/office/drawing/2014/main" id="{D32A4A64-4A17-29FF-2EBF-F73A004DD59A}"/>
              </a:ext>
            </a:extLst>
          </p:cNvPr>
          <p:cNvSpPr>
            <a:spLocks noGrp="1"/>
          </p:cNvSpPr>
          <p:nvPr>
            <p:ph type="subTitle" idx="1"/>
          </p:nvPr>
        </p:nvSpPr>
        <p:spPr>
          <a:xfrm>
            <a:off x="1524000" y="3602038"/>
            <a:ext cx="9144000" cy="2290762"/>
          </a:xfrm>
        </p:spPr>
        <p:txBody>
          <a:bodyPr>
            <a:normAutofit fontScale="70000" lnSpcReduction="20000"/>
          </a:bodyPr>
          <a:lstStyle/>
          <a:p>
            <a:pPr algn="l"/>
            <a:r>
              <a:rPr lang="en-US" sz="4600" b="1" dirty="0">
                <a:solidFill>
                  <a:srgbClr val="FF0000"/>
                </a:solidFill>
                <a:latin typeface="Times New Roman" panose="02020603050405020304" pitchFamily="18" charset="0"/>
                <a:cs typeface="Times New Roman" panose="02020603050405020304" pitchFamily="18" charset="0"/>
              </a:rPr>
              <a:t>DISADVANTAGES:</a:t>
            </a:r>
          </a:p>
          <a:p>
            <a:pPr algn="l"/>
            <a:r>
              <a:rPr lang="en-US" sz="3600" dirty="0"/>
              <a:t>                          </a:t>
            </a:r>
            <a:r>
              <a:rPr lang="en-US" sz="4000" dirty="0">
                <a:latin typeface="Times New Roman" panose="02020603050405020304" pitchFamily="18" charset="0"/>
                <a:cs typeface="Times New Roman" panose="02020603050405020304" pitchFamily="18" charset="0"/>
              </a:rPr>
              <a:t>1.No feedback so less Scope of changes</a:t>
            </a:r>
            <a:r>
              <a:rPr lang="en-US" sz="2800" dirty="0">
                <a:latin typeface="Times New Roman" panose="02020603050405020304" pitchFamily="18" charset="0"/>
                <a:cs typeface="Times New Roman" panose="02020603050405020304" pitchFamily="18" charset="0"/>
              </a:rPr>
              <a:t>.</a:t>
            </a:r>
          </a:p>
          <a:p>
            <a:pPr algn="l"/>
            <a:r>
              <a:rPr lang="en-US" sz="3600"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2.Risk analysis not done</a:t>
            </a:r>
          </a:p>
          <a:p>
            <a:pPr algn="l"/>
            <a:r>
              <a:rPr lang="en-US" sz="4000" dirty="0">
                <a:latin typeface="Times New Roman" panose="02020603050405020304" pitchFamily="18" charset="0"/>
                <a:cs typeface="Times New Roman" panose="02020603050405020304" pitchFamily="18" charset="0"/>
              </a:rPr>
              <a:t>		3. Not good for big or Object Oriented Projects.</a:t>
            </a:r>
          </a:p>
          <a:p>
            <a:pPr algn="l"/>
            <a:r>
              <a:rPr lang="en-US" sz="36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032340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00F67-EF3B-210F-B79A-130528F48D94}"/>
              </a:ext>
            </a:extLst>
          </p:cNvPr>
          <p:cNvSpPr>
            <a:spLocks noGrp="1"/>
          </p:cNvSpPr>
          <p:nvPr>
            <p:ph type="title"/>
          </p:nvPr>
        </p:nvSpPr>
        <p:spPr/>
        <p:txBody>
          <a:bodyPr/>
          <a:lstStyle/>
          <a:p>
            <a:pPr algn="ctr"/>
            <a:r>
              <a:rPr lang="en-US" sz="4400" b="1" dirty="0">
                <a:solidFill>
                  <a:srgbClr val="C00000"/>
                </a:solidFill>
              </a:rPr>
              <a:t>INCREMENTAL MODEL</a:t>
            </a:r>
            <a:endParaRPr lang="en-US" dirty="0"/>
          </a:p>
        </p:txBody>
      </p:sp>
      <p:sp>
        <p:nvSpPr>
          <p:cNvPr id="3" name="Content Placeholder 2">
            <a:extLst>
              <a:ext uri="{FF2B5EF4-FFF2-40B4-BE49-F238E27FC236}">
                <a16:creationId xmlns:a16="http://schemas.microsoft.com/office/drawing/2014/main" id="{199C7A44-3B44-A24E-CD0D-394C6412537F}"/>
              </a:ext>
            </a:extLst>
          </p:cNvPr>
          <p:cNvSpPr>
            <a:spLocks noGrp="1"/>
          </p:cNvSpPr>
          <p:nvPr>
            <p:ph idx="1"/>
          </p:nvPr>
        </p:nvSpPr>
        <p:spPr>
          <a:xfrm>
            <a:off x="838200" y="2348139"/>
            <a:ext cx="10515600" cy="3181804"/>
          </a:xfrm>
        </p:spPr>
        <p:txBody>
          <a:bodyPr/>
          <a:lstStyle/>
          <a:p>
            <a:r>
              <a:rPr lang="en-US" b="0" i="0" dirty="0">
                <a:effectLst/>
                <a:latin typeface="Times New Roman" panose="02020603050405020304" pitchFamily="18" charset="0"/>
                <a:cs typeface="Times New Roman" panose="02020603050405020304" pitchFamily="18" charset="0"/>
              </a:rPr>
              <a:t>Incremental Model is a process of software development where requirements divided into multiple standalone modules of the software development cycle. In this model, each module goes through the requirements, design, implementation and testing phases. Every subsequent release of the module adds function to the previous release. The process continues until the complete system achieved</a:t>
            </a:r>
            <a:r>
              <a:rPr lang="en-US" b="0" i="0" dirty="0">
                <a:solidFill>
                  <a:srgbClr val="2B2A29"/>
                </a:solidFill>
                <a:effectLst/>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49902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9" name="Freeform: Shape 103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99B2ACC-C2A4-7C59-9A7A-AC73F32353AB}"/>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400" b="1" kern="1200">
                <a:solidFill>
                  <a:srgbClr val="FFFFFF"/>
                </a:solidFill>
                <a:latin typeface="+mj-lt"/>
                <a:ea typeface="+mj-ea"/>
                <a:cs typeface="+mj-cs"/>
              </a:rPr>
              <a:t>INCREMENTAL MODEL ARCHITECTURE</a:t>
            </a:r>
          </a:p>
        </p:txBody>
      </p:sp>
      <p:pic>
        <p:nvPicPr>
          <p:cNvPr id="1026" name="Picture 2" descr="Incremental Model (Software Engineering) - javatpoint">
            <a:extLst>
              <a:ext uri="{FF2B5EF4-FFF2-40B4-BE49-F238E27FC236}">
                <a16:creationId xmlns:a16="http://schemas.microsoft.com/office/drawing/2014/main" id="{B7CEC3E3-359E-2DBA-0843-6F12DF7FDE5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1351597"/>
            <a:ext cx="7225748" cy="4154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464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FE10-E32F-84F0-6352-525E8BB3CC93}"/>
              </a:ext>
            </a:extLst>
          </p:cNvPr>
          <p:cNvSpPr>
            <a:spLocks noGrp="1"/>
          </p:cNvSpPr>
          <p:nvPr>
            <p:ph type="ctrTitle"/>
          </p:nvPr>
        </p:nvSpPr>
        <p:spPr>
          <a:xfrm>
            <a:off x="1371600" y="522514"/>
            <a:ext cx="9144000" cy="3309257"/>
          </a:xfrm>
        </p:spPr>
        <p:txBody>
          <a:bodyPr>
            <a:normAutofit fontScale="90000"/>
          </a:bodyPr>
          <a:lstStyle/>
          <a:p>
            <a:pPr algn="l"/>
            <a:br>
              <a:rPr lang="en-US" sz="3600" dirty="0">
                <a:solidFill>
                  <a:srgbClr val="FF0000"/>
                </a:solidFill>
              </a:rPr>
            </a:br>
            <a:br>
              <a:rPr lang="en-US" sz="3600" dirty="0">
                <a:solidFill>
                  <a:srgbClr val="FF0000"/>
                </a:solidFill>
              </a:rPr>
            </a:br>
            <a:br>
              <a:rPr lang="en-US" sz="3100" b="0" i="0" dirty="0">
                <a:solidFill>
                  <a:srgbClr val="273239"/>
                </a:solidFill>
                <a:effectLst/>
                <a:latin typeface="Nunito" pitchFamily="2" charset="0"/>
              </a:rPr>
            </a:br>
            <a:r>
              <a:rPr lang="en-US" sz="3600" dirty="0">
                <a:solidFill>
                  <a:srgbClr val="FF0000"/>
                </a:solidFill>
                <a:latin typeface="Times New Roman" panose="02020603050405020304" pitchFamily="18" charset="0"/>
                <a:cs typeface="Times New Roman" panose="02020603050405020304" pitchFamily="18" charset="0"/>
              </a:rPr>
              <a:t>ADVANTAGES:</a:t>
            </a:r>
            <a:br>
              <a:rPr lang="en-US" sz="3100" b="0" i="0" dirty="0">
                <a:solidFill>
                  <a:srgbClr val="273239"/>
                </a:solidFill>
                <a:effectLst/>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1.</a:t>
            </a:r>
            <a:r>
              <a:rPr lang="en-US" sz="3100" b="0" i="0" dirty="0">
                <a:effectLst/>
                <a:latin typeface="Times New Roman" panose="02020603050405020304" pitchFamily="18" charset="0"/>
                <a:cs typeface="Times New Roman" panose="02020603050405020304" pitchFamily="18" charset="0"/>
              </a:rPr>
              <a:t>It is good to use when projects having lengthy developments schedules.</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2. It can deduct errors easily because core modules are used by the customer from the beginning of the phase.</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3. It is easy to manage risk because of iterations.</a:t>
            </a:r>
            <a:br>
              <a:rPr lang="en-US" sz="3600" dirty="0">
                <a:solidFill>
                  <a:srgbClr val="FF0000"/>
                </a:solidFill>
              </a:rPr>
            </a:br>
            <a:endParaRPr lang="en-US" sz="3600" dirty="0">
              <a:solidFill>
                <a:srgbClr val="FF0000"/>
              </a:solidFill>
            </a:endParaRPr>
          </a:p>
        </p:txBody>
      </p:sp>
      <p:sp>
        <p:nvSpPr>
          <p:cNvPr id="3" name="Subtitle 2">
            <a:extLst>
              <a:ext uri="{FF2B5EF4-FFF2-40B4-BE49-F238E27FC236}">
                <a16:creationId xmlns:a16="http://schemas.microsoft.com/office/drawing/2014/main" id="{F1940CAE-044F-2133-7279-55046779A170}"/>
              </a:ext>
            </a:extLst>
          </p:cNvPr>
          <p:cNvSpPr>
            <a:spLocks noGrp="1"/>
          </p:cNvSpPr>
          <p:nvPr>
            <p:ph type="subTitle" idx="1"/>
          </p:nvPr>
        </p:nvSpPr>
        <p:spPr>
          <a:xfrm>
            <a:off x="1295400" y="3831771"/>
            <a:ext cx="9144000" cy="2677886"/>
          </a:xfrm>
        </p:spPr>
        <p:txBody>
          <a:bodyPr>
            <a:normAutofit/>
          </a:bodyPr>
          <a:lstStyle/>
          <a:p>
            <a:pPr algn="l"/>
            <a:r>
              <a:rPr lang="en-US" sz="3200" dirty="0">
                <a:solidFill>
                  <a:srgbClr val="FF0000"/>
                </a:solidFill>
              </a:rPr>
              <a:t>DISADVANTAGES:</a:t>
            </a:r>
          </a:p>
          <a:p>
            <a:pPr algn="l"/>
            <a:r>
              <a:rPr lang="en-US" sz="2800" dirty="0">
                <a:latin typeface="Times New Roman" panose="02020603050405020304" pitchFamily="18" charset="0"/>
                <a:cs typeface="Times New Roman" panose="02020603050405020304" pitchFamily="18" charset="0"/>
              </a:rPr>
              <a:t>1.</a:t>
            </a:r>
            <a:r>
              <a:rPr lang="en-US" sz="2800" b="0" i="0" dirty="0">
                <a:effectLst/>
                <a:latin typeface="Times New Roman" panose="02020603050405020304" pitchFamily="18" charset="0"/>
                <a:cs typeface="Times New Roman" panose="02020603050405020304" pitchFamily="18" charset="0"/>
              </a:rPr>
              <a:t> It requires a good planning designing.</a:t>
            </a:r>
          </a:p>
          <a:p>
            <a:pPr algn="l"/>
            <a:r>
              <a:rPr lang="en-US" sz="2800" dirty="0">
                <a:latin typeface="Times New Roman" panose="02020603050405020304" pitchFamily="18" charset="0"/>
                <a:cs typeface="Times New Roman" panose="02020603050405020304" pitchFamily="18" charset="0"/>
              </a:rPr>
              <a:t>2.</a:t>
            </a:r>
            <a:r>
              <a:rPr lang="en-US" sz="2800" b="0" i="0" dirty="0">
                <a:effectLst/>
                <a:latin typeface="Times New Roman" panose="02020603050405020304" pitchFamily="18" charset="0"/>
                <a:cs typeface="Times New Roman" panose="02020603050405020304" pitchFamily="18" charset="0"/>
              </a:rPr>
              <a:t> It is costlier than waterfall model.</a:t>
            </a:r>
          </a:p>
          <a:p>
            <a:pPr algn="l"/>
            <a:r>
              <a:rPr lang="en-US" sz="2800" dirty="0">
                <a:latin typeface="Times New Roman" panose="02020603050405020304" pitchFamily="18" charset="0"/>
                <a:cs typeface="Times New Roman" panose="02020603050405020304" pitchFamily="18" charset="0"/>
              </a:rPr>
              <a:t>3.</a:t>
            </a:r>
            <a:r>
              <a:rPr lang="en-US" sz="2800" b="0" i="0" dirty="0">
                <a:effectLst/>
                <a:latin typeface="Times New Roman" panose="02020603050405020304" pitchFamily="18" charset="0"/>
                <a:cs typeface="Times New Roman" panose="02020603050405020304" pitchFamily="18" charset="0"/>
              </a:rPr>
              <a:t> Increased complexity.</a:t>
            </a:r>
          </a:p>
          <a:p>
            <a:pPr algn="l"/>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42275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205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9" name="Rectangle 205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1" name="Rectangle 206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Freeform: Shape 206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43A8D6E0-EF3B-4AB2-FD58-250D9C1863F8}"/>
              </a:ext>
            </a:extLst>
          </p:cNvPr>
          <p:cNvSpPr>
            <a:spLocks noGrp="1"/>
          </p:cNvSpPr>
          <p:nvPr>
            <p:ph type="title"/>
          </p:nvPr>
        </p:nvSpPr>
        <p:spPr>
          <a:xfrm>
            <a:off x="660041" y="2767106"/>
            <a:ext cx="2880828" cy="3071906"/>
          </a:xfrm>
        </p:spPr>
        <p:txBody>
          <a:bodyPr vert="horz" lIns="91440" tIns="45720" rIns="91440" bIns="45720" rtlCol="0" anchor="t">
            <a:normAutofit/>
          </a:bodyPr>
          <a:lstStyle/>
          <a:p>
            <a:pPr fontAlgn="base"/>
            <a:r>
              <a:rPr lang="en-US" sz="3100" b="1" i="0" kern="1200">
                <a:solidFill>
                  <a:srgbClr val="FFFFFF"/>
                </a:solidFill>
                <a:effectLst/>
                <a:latin typeface="+mj-lt"/>
                <a:ea typeface="+mj-ea"/>
                <a:cs typeface="+mj-cs"/>
              </a:rPr>
              <a:t> EVOLUTIONARY MODEL</a:t>
            </a:r>
          </a:p>
        </p:txBody>
      </p:sp>
      <p:pic>
        <p:nvPicPr>
          <p:cNvPr id="2050" name="Picture 2" descr="SDLC - Evolutionary Model - Notepub">
            <a:extLst>
              <a:ext uri="{FF2B5EF4-FFF2-40B4-BE49-F238E27FC236}">
                <a16:creationId xmlns:a16="http://schemas.microsoft.com/office/drawing/2014/main" id="{D2204C67-7F27-FC9A-8EDE-23492EEB4458}"/>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1857400"/>
            <a:ext cx="7225748" cy="3143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8976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309C2-A6E7-29FD-CA45-24CA81100414}"/>
              </a:ext>
            </a:extLst>
          </p:cNvPr>
          <p:cNvSpPr>
            <a:spLocks noGrp="1"/>
          </p:cNvSpPr>
          <p:nvPr>
            <p:ph type="ctrTitle"/>
          </p:nvPr>
        </p:nvSpPr>
        <p:spPr>
          <a:xfrm>
            <a:off x="1524000" y="707571"/>
            <a:ext cx="9144000" cy="3135086"/>
          </a:xfrm>
        </p:spPr>
        <p:txBody>
          <a:bodyPr>
            <a:normAutofit fontScale="90000"/>
          </a:bodyPr>
          <a:lstStyle/>
          <a:p>
            <a:pPr algn="l" fontAlgn="base"/>
            <a:r>
              <a:rPr lang="en-US" sz="3200" b="1" dirty="0">
                <a:solidFill>
                  <a:srgbClr val="FF0000"/>
                </a:solidFill>
              </a:rPr>
              <a:t>ADVANTAGES:</a:t>
            </a:r>
            <a:br>
              <a:rPr lang="en-US" sz="3200" b="1" dirty="0">
                <a:solidFill>
                  <a:srgbClr val="FF0000"/>
                </a:solidFill>
              </a:rPr>
            </a:br>
            <a:r>
              <a:rPr lang="en-US" sz="3200" b="1" dirty="0">
                <a:solidFill>
                  <a:srgbClr val="FF0000"/>
                </a:solidFill>
              </a:rPr>
              <a:t>               </a:t>
            </a:r>
            <a:r>
              <a:rPr lang="en-US" sz="3200" b="1" dirty="0"/>
              <a:t>1.</a:t>
            </a:r>
            <a:r>
              <a:rPr lang="en-US" sz="3100" b="0" i="0" dirty="0">
                <a:effectLst/>
                <a:latin typeface="Times New Roman" panose="02020603050405020304" pitchFamily="18" charset="0"/>
                <a:cs typeface="Times New Roman" panose="02020603050405020304" pitchFamily="18" charset="0"/>
              </a:rPr>
              <a:t>Risk analysis is better.</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2.It supports changing environment.</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3.Initial operating time is less.</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4.Better suited for large mission-critical projects.</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5.During the life cycle software is produced </a:t>
            </a:r>
            <a:r>
              <a:rPr lang="en-US" sz="3100" b="0" i="0">
                <a:effectLst/>
                <a:latin typeface="Times New Roman" panose="02020603050405020304" pitchFamily="18" charset="0"/>
                <a:cs typeface="Times New Roman" panose="02020603050405020304" pitchFamily="18" charset="0"/>
              </a:rPr>
              <a:t>early        </a:t>
            </a:r>
            <a:br>
              <a:rPr lang="en-US" sz="3100" b="0" i="0">
                <a:effectLst/>
                <a:latin typeface="Times New Roman" panose="02020603050405020304" pitchFamily="18" charset="0"/>
                <a:cs typeface="Times New Roman" panose="02020603050405020304" pitchFamily="18" charset="0"/>
              </a:rPr>
            </a:br>
            <a:r>
              <a:rPr lang="en-US" sz="3100" b="0" i="0">
                <a:effectLst/>
                <a:latin typeface="Times New Roman" panose="02020603050405020304" pitchFamily="18" charset="0"/>
                <a:cs typeface="Times New Roman" panose="02020603050405020304" pitchFamily="18" charset="0"/>
              </a:rPr>
              <a:t>                 which </a:t>
            </a:r>
            <a:r>
              <a:rPr lang="en-US" sz="3100" b="0" i="0" dirty="0">
                <a:effectLst/>
                <a:latin typeface="Times New Roman" panose="02020603050405020304" pitchFamily="18" charset="0"/>
                <a:cs typeface="Times New Roman" panose="02020603050405020304" pitchFamily="18" charset="0"/>
              </a:rPr>
              <a:t>facilitates customer evaluation and feedback.</a:t>
            </a:r>
            <a:br>
              <a:rPr lang="en-US" sz="3100" b="0" i="0" dirty="0">
                <a:effectLst/>
                <a:latin typeface="Times New Roman" panose="02020603050405020304" pitchFamily="18" charset="0"/>
                <a:cs typeface="Times New Roman" panose="02020603050405020304" pitchFamily="18" charset="0"/>
              </a:rPr>
            </a:br>
            <a:endParaRPr lang="en-US" sz="31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38168E7-D4BC-54C7-A87F-1235E1554946}"/>
              </a:ext>
            </a:extLst>
          </p:cNvPr>
          <p:cNvSpPr>
            <a:spLocks noGrp="1"/>
          </p:cNvSpPr>
          <p:nvPr>
            <p:ph type="subTitle" idx="1"/>
          </p:nvPr>
        </p:nvSpPr>
        <p:spPr>
          <a:xfrm>
            <a:off x="1524000" y="3602037"/>
            <a:ext cx="9144000" cy="2548392"/>
          </a:xfrm>
        </p:spPr>
        <p:txBody>
          <a:bodyPr>
            <a:noAutofit/>
          </a:bodyPr>
          <a:lstStyle/>
          <a:p>
            <a:pPr algn="l" fontAlgn="base"/>
            <a:r>
              <a:rPr lang="en-US" sz="2800" b="1" dirty="0">
                <a:solidFill>
                  <a:srgbClr val="FF0000"/>
                </a:solidFill>
                <a:latin typeface="Times New Roman" panose="02020603050405020304" pitchFamily="18" charset="0"/>
                <a:cs typeface="Times New Roman" panose="02020603050405020304" pitchFamily="18" charset="0"/>
              </a:rPr>
              <a:t>DISADVANTAGES: </a:t>
            </a:r>
          </a:p>
          <a:p>
            <a:pPr algn="l" fontAlgn="base"/>
            <a:r>
              <a:rPr lang="en-US" sz="2800" b="0" i="0" dirty="0">
                <a:effectLst/>
                <a:latin typeface="Times New Roman" panose="02020603050405020304" pitchFamily="18" charset="0"/>
                <a:cs typeface="Times New Roman" panose="02020603050405020304" pitchFamily="18" charset="0"/>
              </a:rPr>
              <a:t>               1.Management complexity is more.</a:t>
            </a:r>
          </a:p>
          <a:p>
            <a:pPr algn="l" fontAlgn="base"/>
            <a:r>
              <a:rPr lang="en-US" sz="2800" b="0" i="0" dirty="0">
                <a:effectLst/>
                <a:latin typeface="Times New Roman" panose="02020603050405020304" pitchFamily="18" charset="0"/>
                <a:cs typeface="Times New Roman" panose="02020603050405020304" pitchFamily="18" charset="0"/>
              </a:rPr>
              <a:t>               2.Not suitable for smaller projects.</a:t>
            </a:r>
          </a:p>
          <a:p>
            <a:pPr algn="l" fontAlgn="base"/>
            <a:r>
              <a:rPr lang="en-US" sz="2800" b="0" i="0" dirty="0">
                <a:effectLst/>
                <a:latin typeface="Times New Roman" panose="02020603050405020304" pitchFamily="18" charset="0"/>
                <a:cs typeface="Times New Roman" panose="02020603050405020304" pitchFamily="18" charset="0"/>
              </a:rPr>
              <a:t>               3.Can be costly to use.</a:t>
            </a:r>
          </a:p>
          <a:p>
            <a:pPr algn="l" fontAlgn="base"/>
            <a:r>
              <a:rPr lang="en-US" sz="2800" b="0" i="0" dirty="0">
                <a:effectLst/>
                <a:latin typeface="Times New Roman" panose="02020603050405020304" pitchFamily="18" charset="0"/>
                <a:cs typeface="Times New Roman" panose="02020603050405020304" pitchFamily="18" charset="0"/>
              </a:rPr>
              <a:t>               4.Highly skilled resources are required for risk       </a:t>
            </a:r>
          </a:p>
          <a:p>
            <a:pPr algn="l" fontAlgn="base"/>
            <a:r>
              <a:rPr lang="en-US" sz="2800" dirty="0">
                <a:latin typeface="Times New Roman" panose="02020603050405020304" pitchFamily="18" charset="0"/>
                <a:cs typeface="Times New Roman" panose="02020603050405020304" pitchFamily="18" charset="0"/>
              </a:rPr>
              <a:t>                   </a:t>
            </a:r>
            <a:r>
              <a:rPr lang="en-US" sz="2800" b="0" i="0" dirty="0">
                <a:effectLst/>
                <a:latin typeface="Times New Roman" panose="02020603050405020304" pitchFamily="18" charset="0"/>
                <a:cs typeface="Times New Roman" panose="02020603050405020304" pitchFamily="18" charset="0"/>
              </a:rPr>
              <a:t>analysis.</a:t>
            </a:r>
          </a:p>
          <a:p>
            <a:endParaRPr lang="en-US" sz="2800" dirty="0"/>
          </a:p>
        </p:txBody>
      </p:sp>
    </p:spTree>
    <p:extLst>
      <p:ext uri="{BB962C8B-B14F-4D97-AF65-F5344CB8AC3E}">
        <p14:creationId xmlns:p14="http://schemas.microsoft.com/office/powerpoint/2010/main" val="3802988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175" name="Rectangle 7174">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77" name="Rectangle 7176">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79" name="Rectangle 7178">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81" name="Rectangle 718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83" name="Freeform: Shape 7182">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F9AE081-2E58-F9B5-3355-BFF756CE235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b="1" kern="1200">
                <a:solidFill>
                  <a:srgbClr val="FFFFFF"/>
                </a:solidFill>
                <a:latin typeface="+mj-lt"/>
                <a:ea typeface="+mj-ea"/>
                <a:cs typeface="+mj-cs"/>
              </a:rPr>
              <a:t>PROTOTYPE MODEL</a:t>
            </a:r>
          </a:p>
        </p:txBody>
      </p:sp>
      <p:pic>
        <p:nvPicPr>
          <p:cNvPr id="7170" name="Picture 2" descr="Prototype Model in Software Engineering | Board Infinity">
            <a:extLst>
              <a:ext uri="{FF2B5EF4-FFF2-40B4-BE49-F238E27FC236}">
                <a16:creationId xmlns:a16="http://schemas.microsoft.com/office/drawing/2014/main" id="{B47F43B3-E132-C5B3-1334-7EA15CEB6328}"/>
              </a:ext>
            </a:extLst>
          </p:cNvPr>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tretch>
            <a:fillRect/>
          </a:stretch>
        </p:blipFill>
        <p:spPr bwMode="auto">
          <a:xfrm>
            <a:off x="4502428" y="1396758"/>
            <a:ext cx="7225748" cy="40644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9832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BE1FC-1898-509E-CDE2-73B45D7FDD57}"/>
              </a:ext>
            </a:extLst>
          </p:cNvPr>
          <p:cNvSpPr>
            <a:spLocks noGrp="1"/>
          </p:cNvSpPr>
          <p:nvPr>
            <p:ph type="title"/>
          </p:nvPr>
        </p:nvSpPr>
        <p:spPr>
          <a:xfrm>
            <a:off x="838200" y="365125"/>
            <a:ext cx="10515600" cy="2804795"/>
          </a:xfrm>
        </p:spPr>
        <p:txBody>
          <a:bodyPr>
            <a:normAutofit fontScale="90000"/>
          </a:bodyPr>
          <a:lstStyle/>
          <a:p>
            <a:pPr algn="l" fontAlgn="base">
              <a:spcAft>
                <a:spcPts val="1800"/>
              </a:spcAft>
            </a:pPr>
            <a:r>
              <a:rPr lang="en-US" sz="3600" dirty="0">
                <a:solidFill>
                  <a:srgbClr val="FF0000"/>
                </a:solidFill>
                <a:latin typeface="Times New Roman" panose="02020603050405020304" pitchFamily="18" charset="0"/>
                <a:cs typeface="Times New Roman" panose="02020603050405020304" pitchFamily="18" charset="0"/>
              </a:rPr>
              <a:t>ADVANTAGES:</a:t>
            </a:r>
            <a:br>
              <a:rPr lang="en-US" sz="3600" dirty="0">
                <a:solidFill>
                  <a:srgbClr val="FF0000"/>
                </a:solidFill>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                1.</a:t>
            </a:r>
            <a:r>
              <a:rPr lang="en-US" sz="3100" b="0" i="0" dirty="0">
                <a:effectLst/>
                <a:latin typeface="Times New Roman" panose="02020603050405020304" pitchFamily="18" charset="0"/>
                <a:cs typeface="Times New Roman" panose="02020603050405020304" pitchFamily="18" charset="0"/>
              </a:rPr>
              <a:t>This model is flexible in design.</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2.It is easy to detect errors.</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3.We can find missing functionality easily.</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 4.</a:t>
            </a:r>
            <a:r>
              <a:rPr lang="en-US" sz="3100" b="0" i="0" dirty="0">
                <a:effectLst/>
                <a:latin typeface="Times New Roman" panose="02020603050405020304" pitchFamily="18" charset="0"/>
                <a:cs typeface="Times New Roman" panose="02020603050405020304" pitchFamily="18" charset="0"/>
              </a:rPr>
              <a:t>It can be reused by the developer for more complicated            </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projects in the future.</a:t>
            </a:r>
            <a:br>
              <a:rPr lang="en-US" dirty="0"/>
            </a:br>
            <a:endParaRPr lang="en-US" dirty="0"/>
          </a:p>
        </p:txBody>
      </p:sp>
      <p:sp>
        <p:nvSpPr>
          <p:cNvPr id="3" name="Content Placeholder 2">
            <a:extLst>
              <a:ext uri="{FF2B5EF4-FFF2-40B4-BE49-F238E27FC236}">
                <a16:creationId xmlns:a16="http://schemas.microsoft.com/office/drawing/2014/main" id="{591990A7-5D16-9810-5D98-855BBFF520EF}"/>
              </a:ext>
            </a:extLst>
          </p:cNvPr>
          <p:cNvSpPr>
            <a:spLocks noGrp="1"/>
          </p:cNvSpPr>
          <p:nvPr>
            <p:ph idx="1"/>
          </p:nvPr>
        </p:nvSpPr>
        <p:spPr>
          <a:xfrm>
            <a:off x="703447" y="3169920"/>
            <a:ext cx="10515600" cy="2874745"/>
          </a:xfrm>
        </p:spPr>
        <p:txBody>
          <a:bodyPr>
            <a:normAutofit fontScale="25000" lnSpcReduction="20000"/>
          </a:bodyPr>
          <a:lstStyle/>
          <a:p>
            <a:pPr marL="0" indent="0">
              <a:buNone/>
            </a:pPr>
            <a:r>
              <a:rPr lang="en-US" sz="14400" dirty="0">
                <a:solidFill>
                  <a:srgbClr val="FF0000"/>
                </a:solidFill>
                <a:latin typeface="Times New Roman" panose="02020603050405020304" pitchFamily="18" charset="0"/>
                <a:cs typeface="Times New Roman" panose="02020603050405020304" pitchFamily="18" charset="0"/>
              </a:rPr>
              <a:t>DISADVANTAGES:</a:t>
            </a:r>
          </a:p>
          <a:p>
            <a:pPr marL="0" indent="0">
              <a:buNone/>
            </a:pPr>
            <a:r>
              <a:rPr lang="en-US" sz="11200" dirty="0">
                <a:solidFill>
                  <a:srgbClr val="FF0000"/>
                </a:solidFill>
                <a:latin typeface="Times New Roman" panose="02020603050405020304" pitchFamily="18" charset="0"/>
                <a:cs typeface="Times New Roman" panose="02020603050405020304" pitchFamily="18" charset="0"/>
              </a:rPr>
              <a:t>                  </a:t>
            </a:r>
            <a:r>
              <a:rPr lang="en-US" sz="11200" dirty="0">
                <a:latin typeface="Times New Roman" panose="02020603050405020304" pitchFamily="18" charset="0"/>
                <a:cs typeface="Times New Roman" panose="02020603050405020304" pitchFamily="18" charset="0"/>
              </a:rPr>
              <a:t>1.</a:t>
            </a:r>
            <a:r>
              <a:rPr lang="en-US" sz="11200" b="0" i="0" dirty="0">
                <a:effectLst/>
                <a:latin typeface="Times New Roman" panose="02020603050405020304" pitchFamily="18" charset="0"/>
                <a:cs typeface="Times New Roman" panose="02020603050405020304" pitchFamily="18" charset="0"/>
              </a:rPr>
              <a:t> This model is costly.</a:t>
            </a:r>
          </a:p>
          <a:p>
            <a:pPr marL="0" indent="0">
              <a:buNone/>
            </a:pPr>
            <a:r>
              <a:rPr lang="en-US" sz="11200" dirty="0">
                <a:latin typeface="Times New Roman" panose="02020603050405020304" pitchFamily="18" charset="0"/>
                <a:cs typeface="Times New Roman" panose="02020603050405020304" pitchFamily="18" charset="0"/>
              </a:rPr>
              <a:t>	        2.</a:t>
            </a:r>
            <a:r>
              <a:rPr lang="en-US" sz="11200" b="0" i="0" dirty="0">
                <a:effectLst/>
                <a:latin typeface="Times New Roman" panose="02020603050405020304" pitchFamily="18" charset="0"/>
                <a:cs typeface="Times New Roman" panose="02020603050405020304" pitchFamily="18" charset="0"/>
              </a:rPr>
              <a:t> It has poor documentation because of continuously    </a:t>
            </a:r>
          </a:p>
          <a:p>
            <a:pPr marL="0" indent="0">
              <a:buNone/>
            </a:pPr>
            <a:r>
              <a:rPr lang="en-US" sz="11200" dirty="0">
                <a:latin typeface="Times New Roman" panose="02020603050405020304" pitchFamily="18" charset="0"/>
                <a:cs typeface="Times New Roman" panose="02020603050405020304" pitchFamily="18" charset="0"/>
              </a:rPr>
              <a:t>                       </a:t>
            </a:r>
            <a:r>
              <a:rPr lang="en-US" sz="11200" b="0" i="0" dirty="0">
                <a:effectLst/>
                <a:latin typeface="Times New Roman" panose="02020603050405020304" pitchFamily="18" charset="0"/>
                <a:cs typeface="Times New Roman" panose="02020603050405020304" pitchFamily="18" charset="0"/>
              </a:rPr>
              <a:t>changing customer requirements.</a:t>
            </a:r>
          </a:p>
          <a:p>
            <a:pPr marL="0" indent="0" algn="l" fontAlgn="base">
              <a:spcAft>
                <a:spcPts val="1800"/>
              </a:spcAft>
              <a:buNone/>
            </a:pPr>
            <a:r>
              <a:rPr lang="en-US" sz="11200" b="0" i="0" dirty="0">
                <a:effectLst/>
                <a:latin typeface="Times New Roman" panose="02020603050405020304" pitchFamily="18" charset="0"/>
                <a:cs typeface="Times New Roman" panose="02020603050405020304" pitchFamily="18" charset="0"/>
              </a:rPr>
              <a:t>                  3.There may be too much variation in requirements.                                                                                                              </a:t>
            </a:r>
          </a:p>
          <a:p>
            <a:pPr marL="0" indent="0" algn="l" fontAlgn="base">
              <a:spcAft>
                <a:spcPts val="1800"/>
              </a:spcAft>
              <a:buNone/>
            </a:pPr>
            <a:r>
              <a:rPr lang="en-US" sz="11200" dirty="0">
                <a:latin typeface="Times New Roman" panose="02020603050405020304" pitchFamily="18" charset="0"/>
                <a:cs typeface="Times New Roman" panose="02020603050405020304" pitchFamily="18" charset="0"/>
              </a:rPr>
              <a:t>                  4.</a:t>
            </a:r>
            <a:r>
              <a:rPr lang="en-US" sz="11200" b="0" i="0" dirty="0">
                <a:effectLst/>
                <a:latin typeface="Times New Roman" panose="02020603050405020304" pitchFamily="18" charset="0"/>
                <a:cs typeface="Times New Roman" panose="02020603050405020304" pitchFamily="18" charset="0"/>
              </a:rPr>
              <a:t>There may increase the complexity of the system.</a:t>
            </a:r>
          </a:p>
          <a:p>
            <a:pPr algn="l" fontAlgn="base">
              <a:spcAft>
                <a:spcPts val="1800"/>
              </a:spcAft>
              <a:buFont typeface="+mj-lt"/>
              <a:buAutoNum type="arabicPeriod" startAt="3"/>
            </a:pPr>
            <a:endParaRPr lang="en-US" sz="11200" b="0" i="0" dirty="0">
              <a:solidFill>
                <a:srgbClr val="273239"/>
              </a:solidFill>
              <a:effectLst/>
              <a:latin typeface="Nunito" pitchFamily="2" charset="0"/>
            </a:endParaRPr>
          </a:p>
          <a:p>
            <a:pPr marL="0" indent="0">
              <a:buNone/>
            </a:pPr>
            <a:endParaRPr lang="en-US" sz="2000" b="0" i="0" dirty="0">
              <a:solidFill>
                <a:srgbClr val="273239"/>
              </a:solidFill>
              <a:effectLst/>
              <a:latin typeface="Nunito" pitchFamily="2" charset="0"/>
            </a:endParaRPr>
          </a:p>
          <a:p>
            <a:pPr marL="0" indent="0">
              <a:buNone/>
            </a:pPr>
            <a:endParaRPr lang="en-US" sz="320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58673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2AABC-8896-8ACE-CFB5-38AE62D8CE7A}"/>
              </a:ext>
            </a:extLst>
          </p:cNvPr>
          <p:cNvSpPr>
            <a:spLocks noGrp="1"/>
          </p:cNvSpPr>
          <p:nvPr>
            <p:ph type="title"/>
          </p:nvPr>
        </p:nvSpPr>
        <p:spPr/>
        <p:txBody>
          <a:bodyPr>
            <a:normAutofit/>
          </a:bodyPr>
          <a:lstStyle/>
          <a:p>
            <a:r>
              <a:rPr lang="en-US" sz="3600" b="1" dirty="0">
                <a:solidFill>
                  <a:srgbClr val="C00000"/>
                </a:solidFill>
                <a:latin typeface="Times New Roman" panose="02020603050405020304" pitchFamily="18" charset="0"/>
                <a:cs typeface="Times New Roman" panose="02020603050405020304" pitchFamily="18" charset="0"/>
              </a:rPr>
              <a:t>RAPID APPLICATION DEVELOPMENT(RAD)</a:t>
            </a:r>
          </a:p>
        </p:txBody>
      </p:sp>
      <p:sp>
        <p:nvSpPr>
          <p:cNvPr id="3" name="Content Placeholder 2">
            <a:extLst>
              <a:ext uri="{FF2B5EF4-FFF2-40B4-BE49-F238E27FC236}">
                <a16:creationId xmlns:a16="http://schemas.microsoft.com/office/drawing/2014/main" id="{51EFF302-9B43-84FC-EB69-834670DBA130}"/>
              </a:ext>
            </a:extLst>
          </p:cNvPr>
          <p:cNvSpPr>
            <a:spLocks noGrp="1"/>
          </p:cNvSpPr>
          <p:nvPr>
            <p:ph idx="1"/>
          </p:nvPr>
        </p:nvSpPr>
        <p:spPr/>
        <p:txBody>
          <a:bodyPr/>
          <a:lstStyle/>
          <a:p>
            <a:pPr marL="0" indent="0" algn="just">
              <a:buNone/>
            </a:pPr>
            <a:r>
              <a:rPr lang="en-US" b="0" i="0" dirty="0">
                <a:effectLst/>
                <a:latin typeface="Times New Roman" panose="02020603050405020304" pitchFamily="18" charset="0"/>
                <a:cs typeface="Times New Roman" panose="02020603050405020304" pitchFamily="18" charset="0"/>
              </a:rPr>
              <a:t>1. Gathering requirements using workshops or focus groups</a:t>
            </a:r>
          </a:p>
          <a:p>
            <a:pPr marL="0" indent="0" algn="just">
              <a:buNone/>
            </a:pPr>
            <a:r>
              <a:rPr lang="en-US" dirty="0">
                <a:latin typeface="Times New Roman" panose="02020603050405020304" pitchFamily="18" charset="0"/>
                <a:cs typeface="Times New Roman" panose="02020603050405020304" pitchFamily="18" charset="0"/>
              </a:rPr>
              <a:t>2. </a:t>
            </a:r>
            <a:r>
              <a:rPr lang="en-US" b="0" i="0" dirty="0">
                <a:effectLst/>
                <a:latin typeface="Times New Roman" panose="02020603050405020304" pitchFamily="18" charset="0"/>
                <a:cs typeface="Times New Roman" panose="02020603050405020304" pitchFamily="18" charset="0"/>
              </a:rPr>
              <a:t>Prototyping and early, reiterative user testing of designs</a:t>
            </a:r>
          </a:p>
          <a:p>
            <a:pPr marL="0" indent="0" algn="just">
              <a:buNone/>
            </a:pPr>
            <a:r>
              <a:rPr lang="en-US" b="0" i="0" dirty="0">
                <a:effectLst/>
                <a:latin typeface="Times New Roman" panose="02020603050405020304" pitchFamily="18" charset="0"/>
                <a:cs typeface="Times New Roman" panose="02020603050405020304" pitchFamily="18" charset="0"/>
              </a:rPr>
              <a:t>3. The re-use of software components</a:t>
            </a:r>
          </a:p>
          <a:p>
            <a:pPr marL="0" indent="0" algn="just">
              <a:buNone/>
            </a:pPr>
            <a:r>
              <a:rPr lang="en-US" b="0" i="0" dirty="0">
                <a:effectLst/>
                <a:latin typeface="Times New Roman" panose="02020603050405020304" pitchFamily="18" charset="0"/>
                <a:cs typeface="Times New Roman" panose="02020603050405020304" pitchFamily="18" charset="0"/>
              </a:rPr>
              <a:t>4. A rigidly paced schedule that refers design improvements to the next product version</a:t>
            </a:r>
          </a:p>
          <a:p>
            <a:pPr marL="0" indent="0" algn="just">
              <a:buNone/>
            </a:pPr>
            <a:r>
              <a:rPr lang="en-US" b="0" i="0" dirty="0">
                <a:effectLst/>
                <a:latin typeface="Times New Roman" panose="02020603050405020304" pitchFamily="18" charset="0"/>
                <a:cs typeface="Times New Roman" panose="02020603050405020304" pitchFamily="18" charset="0"/>
              </a:rPr>
              <a:t>5. Less formality in reviews and other team communication</a:t>
            </a:r>
          </a:p>
          <a:p>
            <a:endParaRPr lang="en-US" dirty="0"/>
          </a:p>
        </p:txBody>
      </p:sp>
    </p:spTree>
    <p:extLst>
      <p:ext uri="{BB962C8B-B14F-4D97-AF65-F5344CB8AC3E}">
        <p14:creationId xmlns:p14="http://schemas.microsoft.com/office/powerpoint/2010/main" val="1346848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Rectangle 410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410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9" name="Rectangle 410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1" name="Freeform: Shape 411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92C4FCF4-4944-F2EE-9B2C-CA3E3A246750}"/>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RAD Model Diagram</a:t>
            </a:r>
          </a:p>
        </p:txBody>
      </p:sp>
      <p:pic>
        <p:nvPicPr>
          <p:cNvPr id="4098" name="Picture 2" descr="RAD - Rapid Application Development - Model">
            <a:extLst>
              <a:ext uri="{FF2B5EF4-FFF2-40B4-BE49-F238E27FC236}">
                <a16:creationId xmlns:a16="http://schemas.microsoft.com/office/drawing/2014/main" id="{F9664A5D-B6D5-E78A-0987-1B342D7C720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502428" y="1234179"/>
            <a:ext cx="7225748" cy="43896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1806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0EE4F-7C61-3366-08E5-95629FEECA37}"/>
              </a:ext>
            </a:extLst>
          </p:cNvPr>
          <p:cNvSpPr>
            <a:spLocks noGrp="1"/>
          </p:cNvSpPr>
          <p:nvPr>
            <p:ph type="title"/>
          </p:nvPr>
        </p:nvSpPr>
        <p:spPr>
          <a:xfrm>
            <a:off x="838200" y="365125"/>
            <a:ext cx="10515600" cy="2857046"/>
          </a:xfrm>
        </p:spPr>
        <p:txBody>
          <a:bodyPr>
            <a:normAutofit fontScale="90000"/>
          </a:bodyPr>
          <a:lstStyle/>
          <a:p>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r>
              <a:rPr lang="en-US" sz="3600" dirty="0">
                <a:solidFill>
                  <a:srgbClr val="FF0000"/>
                </a:solidFill>
                <a:latin typeface="Times New Roman" panose="02020603050405020304" pitchFamily="18" charset="0"/>
                <a:cs typeface="Times New Roman" panose="02020603050405020304" pitchFamily="18" charset="0"/>
              </a:rPr>
              <a:t>ADVANTAGES: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1.</a:t>
            </a:r>
            <a:r>
              <a:rPr lang="en-US" sz="3100" b="0" i="0" dirty="0">
                <a:effectLst/>
                <a:latin typeface="Times New Roman" panose="02020603050405020304" pitchFamily="18" charset="0"/>
                <a:cs typeface="Times New Roman" panose="02020603050405020304" pitchFamily="18" charset="0"/>
              </a:rPr>
              <a:t> This model is flexible for change.</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2. In this model, changes are adoptable.</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3. It reduced development time.</a:t>
            </a:r>
            <a:br>
              <a:rPr lang="en-US" sz="3100" b="0" i="0" dirty="0">
                <a:effectLst/>
                <a:latin typeface="Times New Roman" panose="02020603050405020304" pitchFamily="18" charset="0"/>
                <a:cs typeface="Times New Roman" panose="02020603050405020304" pitchFamily="18" charset="0"/>
              </a:rPr>
            </a:br>
            <a:r>
              <a:rPr lang="en-US" sz="3100" b="0" i="0" dirty="0">
                <a:effectLst/>
                <a:latin typeface="Times New Roman" panose="02020603050405020304" pitchFamily="18" charset="0"/>
                <a:cs typeface="Times New Roman" panose="02020603050405020304" pitchFamily="18" charset="0"/>
              </a:rPr>
              <a:t>	4. It increases the reusability of features</a:t>
            </a:r>
            <a:r>
              <a:rPr lang="en-US" sz="3100" b="0" i="0" dirty="0">
                <a:solidFill>
                  <a:srgbClr val="2B2A29"/>
                </a:solidFill>
                <a:effectLst/>
                <a:latin typeface="Times New Roman" panose="02020603050405020304" pitchFamily="18" charset="0"/>
                <a:cs typeface="Times New Roman" panose="02020603050405020304" pitchFamily="18" charset="0"/>
              </a:rPr>
              <a:t>.</a:t>
            </a:r>
            <a:br>
              <a:rPr lang="en-US" sz="3100" b="0" i="0" dirty="0">
                <a:solidFill>
                  <a:srgbClr val="2B2A29"/>
                </a:solidFill>
                <a:effectLst/>
                <a:latin typeface="Times New Roman" panose="02020603050405020304" pitchFamily="18" charset="0"/>
                <a:cs typeface="Times New Roman" panose="02020603050405020304" pitchFamily="18" charset="0"/>
              </a:rPr>
            </a:br>
            <a:br>
              <a:rPr lang="en-US" sz="3100" b="0" i="0" dirty="0">
                <a:solidFill>
                  <a:srgbClr val="2B2A29"/>
                </a:solidFill>
                <a:effectLst/>
                <a:latin typeface="Times New Roman" panose="02020603050405020304" pitchFamily="18" charset="0"/>
                <a:cs typeface="Times New Roman" panose="02020603050405020304" pitchFamily="18" charset="0"/>
              </a:rPr>
            </a:br>
            <a:br>
              <a:rPr lang="en-US" b="0" i="0" dirty="0">
                <a:solidFill>
                  <a:srgbClr val="2B2A29"/>
                </a:solidFill>
                <a:effectLst/>
                <a:latin typeface="Montserrat" panose="00000500000000000000" pitchFamily="2" charset="0"/>
              </a:rPr>
            </a:br>
            <a:br>
              <a:rPr lang="en-US" dirty="0"/>
            </a:br>
            <a:br>
              <a:rPr lang="en-US" dirty="0"/>
            </a:br>
            <a:endParaRPr lang="en-US" dirty="0"/>
          </a:p>
        </p:txBody>
      </p:sp>
      <p:sp>
        <p:nvSpPr>
          <p:cNvPr id="3" name="Content Placeholder 2">
            <a:extLst>
              <a:ext uri="{FF2B5EF4-FFF2-40B4-BE49-F238E27FC236}">
                <a16:creationId xmlns:a16="http://schemas.microsoft.com/office/drawing/2014/main" id="{D8DEFA3F-B56F-63A7-CF20-B42EA3E5A2C2}"/>
              </a:ext>
            </a:extLst>
          </p:cNvPr>
          <p:cNvSpPr>
            <a:spLocks noGrp="1"/>
          </p:cNvSpPr>
          <p:nvPr>
            <p:ph idx="1"/>
          </p:nvPr>
        </p:nvSpPr>
        <p:spPr>
          <a:xfrm>
            <a:off x="838200" y="4027713"/>
            <a:ext cx="10515600" cy="2579916"/>
          </a:xfrm>
        </p:spPr>
        <p:txBody>
          <a:bodyPr>
            <a:normAutofit/>
          </a:bodyPr>
          <a:lstStyle/>
          <a:p>
            <a:pPr marL="0" indent="0">
              <a:buNone/>
            </a:pPr>
            <a:r>
              <a:rPr lang="en-US" sz="3200" dirty="0">
                <a:solidFill>
                  <a:srgbClr val="FF0000"/>
                </a:solidFill>
                <a:latin typeface="Times New Roman" panose="02020603050405020304" pitchFamily="18" charset="0"/>
                <a:cs typeface="Times New Roman" panose="02020603050405020304" pitchFamily="18" charset="0"/>
              </a:rPr>
              <a:t>DISADVANTAGES:</a:t>
            </a:r>
          </a:p>
          <a:p>
            <a:pPr marL="0" indent="0">
              <a:buNone/>
            </a:pPr>
            <a:r>
              <a:rPr lang="en-US" dirty="0">
                <a:latin typeface="Times New Roman" panose="02020603050405020304" pitchFamily="18" charset="0"/>
                <a:cs typeface="Times New Roman" panose="02020603050405020304" pitchFamily="18" charset="0"/>
              </a:rPr>
              <a:t>	1.</a:t>
            </a:r>
            <a:r>
              <a:rPr lang="en-US" b="0" i="0" dirty="0">
                <a:effectLst/>
                <a:latin typeface="Times New Roman" panose="02020603050405020304" pitchFamily="18" charset="0"/>
                <a:cs typeface="Times New Roman" panose="02020603050405020304" pitchFamily="18" charset="0"/>
              </a:rPr>
              <a:t> All application is not compatible with RAD.</a:t>
            </a:r>
          </a:p>
          <a:p>
            <a:pPr marL="0" indent="0">
              <a:buNone/>
            </a:pPr>
            <a:r>
              <a:rPr lang="en-US" b="0" i="0" dirty="0">
                <a:effectLst/>
                <a:latin typeface="Times New Roman" panose="02020603050405020304" pitchFamily="18" charset="0"/>
                <a:cs typeface="Times New Roman" panose="02020603050405020304" pitchFamily="18" charset="0"/>
              </a:rPr>
              <a:t>	2. It required highly skilled designers.</a:t>
            </a:r>
          </a:p>
          <a:p>
            <a:pPr marL="0" indent="0">
              <a:buNone/>
            </a:pPr>
            <a:r>
              <a:rPr lang="en-US" dirty="0">
                <a:latin typeface="Times New Roman" panose="02020603050405020304" pitchFamily="18" charset="0"/>
                <a:cs typeface="Times New Roman" panose="02020603050405020304" pitchFamily="18" charset="0"/>
              </a:rPr>
              <a:t>	3.</a:t>
            </a:r>
            <a:r>
              <a:rPr lang="en-US" b="0" i="0" dirty="0">
                <a:effectLst/>
                <a:latin typeface="Times New Roman" panose="02020603050405020304" pitchFamily="18" charset="0"/>
                <a:cs typeface="Times New Roman" panose="02020603050405020304" pitchFamily="18" charset="0"/>
              </a:rPr>
              <a:t> It required highly skilled designers.</a:t>
            </a:r>
          </a:p>
          <a:p>
            <a:pPr marL="0" indent="0">
              <a:buNone/>
            </a:pPr>
            <a:r>
              <a:rPr lang="en-US" dirty="0">
                <a:latin typeface="Times New Roman" panose="02020603050405020304" pitchFamily="18" charset="0"/>
                <a:cs typeface="Times New Roman" panose="02020603050405020304" pitchFamily="18" charset="0"/>
              </a:rPr>
              <a:t>	4.</a:t>
            </a:r>
            <a:r>
              <a:rPr lang="en-US" b="0" i="0" dirty="0">
                <a:effectLst/>
                <a:latin typeface="Times New Roman" panose="02020603050405020304" pitchFamily="18" charset="0"/>
                <a:cs typeface="Times New Roman" panose="02020603050405020304" pitchFamily="18" charset="0"/>
              </a:rPr>
              <a:t> On the high technical risk, it's not suitable.</a:t>
            </a:r>
          </a:p>
          <a:p>
            <a:pPr marL="0" indent="0">
              <a:buNone/>
            </a:pPr>
            <a:endParaRPr lang="en-US" sz="2400" b="0" i="0" dirty="0">
              <a:solidFill>
                <a:srgbClr val="2B2A29"/>
              </a:solidFill>
              <a:effectLst/>
              <a:latin typeface="Montserrat" panose="00000500000000000000" pitchFamily="2" charset="0"/>
            </a:endParaRPr>
          </a:p>
          <a:p>
            <a:pPr marL="0" indent="0">
              <a:buNone/>
            </a:pPr>
            <a:endParaRPr lang="en-US" sz="3600" dirty="0"/>
          </a:p>
        </p:txBody>
      </p:sp>
    </p:spTree>
    <p:extLst>
      <p:ext uri="{BB962C8B-B14F-4D97-AF65-F5344CB8AC3E}">
        <p14:creationId xmlns:p14="http://schemas.microsoft.com/office/powerpoint/2010/main" val="42780563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291A8D-563B-BA04-9069-1385B3228339}"/>
              </a:ext>
            </a:extLst>
          </p:cNvPr>
          <p:cNvSpPr>
            <a:spLocks noGrp="1"/>
          </p:cNvSpPr>
          <p:nvPr>
            <p:ph type="title"/>
          </p:nvPr>
        </p:nvSpPr>
        <p:spPr>
          <a:xfrm>
            <a:off x="876693" y="741391"/>
            <a:ext cx="3455821" cy="1616203"/>
          </a:xfrm>
        </p:spPr>
        <p:txBody>
          <a:bodyPr vert="horz" lIns="91440" tIns="45720" rIns="91440" bIns="45720" rtlCol="0" anchor="b">
            <a:normAutofit/>
          </a:bodyPr>
          <a:lstStyle/>
          <a:p>
            <a:r>
              <a:rPr lang="en-US" sz="3200" b="1" kern="1200">
                <a:solidFill>
                  <a:schemeClr val="tx1"/>
                </a:solidFill>
                <a:latin typeface="+mj-lt"/>
                <a:ea typeface="+mj-ea"/>
                <a:cs typeface="+mj-cs"/>
              </a:rPr>
              <a:t>SPIRAL MODEL</a:t>
            </a:r>
          </a:p>
        </p:txBody>
      </p:sp>
      <p:sp>
        <p:nvSpPr>
          <p:cNvPr id="3" name="Rectangle 2">
            <a:extLst>
              <a:ext uri="{FF2B5EF4-FFF2-40B4-BE49-F238E27FC236}">
                <a16:creationId xmlns:a16="http://schemas.microsoft.com/office/drawing/2014/main" id="{4FC1A06A-B438-DBFA-A261-BC9E2602B219}"/>
              </a:ext>
            </a:extLst>
          </p:cNvPr>
          <p:cNvSpPr/>
          <p:nvPr/>
        </p:nvSpPr>
        <p:spPr>
          <a:xfrm>
            <a:off x="876693" y="2533476"/>
            <a:ext cx="3455821" cy="3447832"/>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chor="t">
            <a:normAutofit/>
          </a:bodyPr>
          <a:lstStyle/>
          <a:p>
            <a:pPr indent="-228600" defTabSz="914400">
              <a:lnSpc>
                <a:spcPct val="90000"/>
              </a:lnSpc>
              <a:spcAft>
                <a:spcPts val="600"/>
              </a:spcAft>
              <a:buFont typeface="Arial" panose="020B0604020202020204" pitchFamily="34" charset="0"/>
              <a:buChar char="•"/>
            </a:pPr>
            <a:r>
              <a:rPr lang="en-US" sz="2000">
                <a:solidFill>
                  <a:schemeClr val="tx1"/>
                </a:solidFill>
              </a:rPr>
              <a:t>Radius of the spiral= Cost</a:t>
            </a:r>
          </a:p>
          <a:p>
            <a:pPr indent="-228600" defTabSz="914400">
              <a:lnSpc>
                <a:spcPct val="90000"/>
              </a:lnSpc>
              <a:spcAft>
                <a:spcPts val="600"/>
              </a:spcAft>
              <a:buFont typeface="Arial" panose="020B0604020202020204" pitchFamily="34" charset="0"/>
              <a:buChar char="•"/>
            </a:pPr>
            <a:r>
              <a:rPr lang="en-US" sz="2000">
                <a:solidFill>
                  <a:schemeClr val="tx1"/>
                </a:solidFill>
              </a:rPr>
              <a:t>Angular Dimension= Progress</a:t>
            </a:r>
          </a:p>
        </p:txBody>
      </p:sp>
      <p:pic>
        <p:nvPicPr>
          <p:cNvPr id="5122" name="Picture 2" descr="Spiral Model For Software Development- A Risky-Driven Model">
            <a:extLst>
              <a:ext uri="{FF2B5EF4-FFF2-40B4-BE49-F238E27FC236}">
                <a16:creationId xmlns:a16="http://schemas.microsoft.com/office/drawing/2014/main" id="{CAA44942-DFAF-47CD-2738-AB456CAB0FB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987672" y="1341144"/>
            <a:ext cx="6389346" cy="4185021"/>
          </a:xfrm>
          <a:prstGeom prst="rect">
            <a:avLst/>
          </a:prstGeom>
          <a:noFill/>
          <a:extLst>
            <a:ext uri="{909E8E84-426E-40DD-AFC4-6F175D3DCCD1}">
              <a14:hiddenFill xmlns:a14="http://schemas.microsoft.com/office/drawing/2010/main">
                <a:solidFill>
                  <a:srgbClr val="FFFFFF"/>
                </a:solidFill>
              </a14:hiddenFill>
            </a:ext>
          </a:extLst>
        </p:spPr>
      </p:pic>
      <p:grpSp>
        <p:nvGrpSpPr>
          <p:cNvPr id="5127" name="Group 5126">
            <a:extLst>
              <a:ext uri="{FF2B5EF4-FFF2-40B4-BE49-F238E27FC236}">
                <a16:creationId xmlns:a16="http://schemas.microsoft.com/office/drawing/2014/main" id="{6258F736-B256-8039-9DC6-F4E49A5C5A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2068638" y="0"/>
            <a:ext cx="123362" cy="6858000"/>
            <a:chOff x="12068638" y="0"/>
            <a:chExt cx="123362" cy="6858000"/>
          </a:xfrm>
        </p:grpSpPr>
        <p:sp>
          <p:nvSpPr>
            <p:cNvPr id="5128" name="Rectangle 5127">
              <a:extLst>
                <a:ext uri="{FF2B5EF4-FFF2-40B4-BE49-F238E27FC236}">
                  <a16:creationId xmlns:a16="http://schemas.microsoft.com/office/drawing/2014/main" id="{10B4520A-996E-330C-99DA-69CA4D89E9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9" name="Rectangle 5128">
              <a:extLst>
                <a:ext uri="{FF2B5EF4-FFF2-40B4-BE49-F238E27FC236}">
                  <a16:creationId xmlns:a16="http://schemas.microsoft.com/office/drawing/2014/main" id="{EC8FA945-E356-695F-18D6-CAD4EF34FE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lumMod val="60000"/>
                    <a:lumOff val="40000"/>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229342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860BC-EADF-DDDF-25C4-78D90C224DAE}"/>
              </a:ext>
            </a:extLst>
          </p:cNvPr>
          <p:cNvSpPr>
            <a:spLocks noGrp="1"/>
          </p:cNvSpPr>
          <p:nvPr>
            <p:ph type="ctrTitle"/>
          </p:nvPr>
        </p:nvSpPr>
        <p:spPr>
          <a:xfrm>
            <a:off x="1524000" y="1122363"/>
            <a:ext cx="9144000" cy="2758757"/>
          </a:xfrm>
        </p:spPr>
        <p:txBody>
          <a:bodyPr>
            <a:normAutofit fontScale="90000"/>
          </a:bodyPr>
          <a:lstStyle/>
          <a:p>
            <a:pPr algn="l"/>
            <a:r>
              <a:rPr lang="en-US" sz="3600" b="1" dirty="0">
                <a:solidFill>
                  <a:srgbClr val="FF0000"/>
                </a:solidFill>
                <a:latin typeface="Times New Roman" panose="02020603050405020304" pitchFamily="18" charset="0"/>
                <a:cs typeface="Times New Roman" panose="02020603050405020304" pitchFamily="18" charset="0"/>
              </a:rPr>
              <a:t>ADVANTAGES:</a:t>
            </a:r>
            <a:br>
              <a:rPr lang="en-US" sz="2800" b="1" dirty="0">
                <a:solidFill>
                  <a:srgbClr val="C00000"/>
                </a:solidFill>
                <a:latin typeface="Times New Roman" panose="02020603050405020304" pitchFamily="18" charset="0"/>
                <a:cs typeface="Times New Roman" panose="02020603050405020304" pitchFamily="18" charset="0"/>
              </a:rPr>
            </a:br>
            <a:r>
              <a:rPr lang="en-US" sz="2800" b="1" dirty="0">
                <a:solidFill>
                  <a:srgbClr val="C00000"/>
                </a:solidFill>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1</a:t>
            </a:r>
            <a:r>
              <a:rPr lang="en-US" sz="3100" b="1" dirty="0">
                <a:latin typeface="Times New Roman" panose="02020603050405020304" pitchFamily="18" charset="0"/>
                <a:cs typeface="Times New Roman" panose="02020603050405020304" pitchFamily="18" charset="0"/>
              </a:rPr>
              <a:t>. </a:t>
            </a:r>
            <a:r>
              <a:rPr lang="en-US" sz="3100" b="0" i="0" dirty="0">
                <a:effectLst/>
                <a:latin typeface="Times New Roman" panose="02020603050405020304" pitchFamily="18" charset="0"/>
                <a:cs typeface="Times New Roman" panose="02020603050405020304" pitchFamily="18" charset="0"/>
              </a:rPr>
              <a:t>Software is produced early in the software life cycle.</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2.Risk Handling.</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3.It is used in Large projects.</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4.It is Flexible changes.</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5.Customer Satisfaction</a:t>
            </a:r>
            <a:br>
              <a:rPr lang="en-US" sz="2800" b="0" i="0" dirty="0">
                <a:effectLst/>
                <a:latin typeface="Times New Roman" panose="02020603050405020304" pitchFamily="18" charset="0"/>
                <a:cs typeface="Times New Roman" panose="02020603050405020304" pitchFamily="18" charset="0"/>
              </a:rPr>
            </a:br>
            <a:endParaRPr lang="en-US" sz="28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04D3096F-DC93-C8EB-6A9C-C5F0A3063A76}"/>
              </a:ext>
            </a:extLst>
          </p:cNvPr>
          <p:cNvSpPr>
            <a:spLocks noGrp="1"/>
          </p:cNvSpPr>
          <p:nvPr>
            <p:ph type="subTitle" idx="1"/>
          </p:nvPr>
        </p:nvSpPr>
        <p:spPr>
          <a:xfrm>
            <a:off x="1432560" y="4079558"/>
            <a:ext cx="9144000" cy="2493962"/>
          </a:xfrm>
        </p:spPr>
        <p:txBody>
          <a:bodyPr>
            <a:normAutofit lnSpcReduction="10000"/>
          </a:bodyPr>
          <a:lstStyle/>
          <a:p>
            <a:pPr algn="l"/>
            <a:r>
              <a:rPr lang="en-US" sz="3200" b="1" dirty="0">
                <a:solidFill>
                  <a:srgbClr val="FF0000"/>
                </a:solidFill>
                <a:latin typeface="Times New Roman" panose="02020603050405020304" pitchFamily="18" charset="0"/>
                <a:cs typeface="Times New Roman" panose="02020603050405020304" pitchFamily="18" charset="0"/>
              </a:rPr>
              <a:t>DISADVANTAGES:</a:t>
            </a:r>
          </a:p>
          <a:p>
            <a:pPr algn="l"/>
            <a:r>
              <a:rPr lang="en-US" dirty="0"/>
              <a:t>              </a:t>
            </a:r>
            <a:r>
              <a:rPr lang="en-US" sz="2800" dirty="0">
                <a:latin typeface="Times New Roman" panose="02020603050405020304" pitchFamily="18" charset="0"/>
                <a:cs typeface="Times New Roman" panose="02020603050405020304" pitchFamily="18" charset="0"/>
              </a:rPr>
              <a:t>1.It is very complex.</a:t>
            </a:r>
          </a:p>
          <a:p>
            <a:pPr algn="l"/>
            <a:r>
              <a:rPr lang="en-US" sz="2800" dirty="0">
                <a:latin typeface="Times New Roman" panose="02020603050405020304" pitchFamily="18" charset="0"/>
                <a:cs typeface="Times New Roman" panose="02020603050405020304" pitchFamily="18" charset="0"/>
              </a:rPr>
              <a:t>	2.Expensive.</a:t>
            </a:r>
          </a:p>
          <a:p>
            <a:pPr algn="l"/>
            <a:r>
              <a:rPr lang="en-US" sz="2800" dirty="0">
                <a:latin typeface="Times New Roman" panose="02020603050405020304" pitchFamily="18" charset="0"/>
                <a:cs typeface="Times New Roman" panose="02020603050405020304" pitchFamily="18" charset="0"/>
              </a:rPr>
              <a:t>	3.Too much risk analysis.</a:t>
            </a:r>
          </a:p>
          <a:p>
            <a:pPr algn="l"/>
            <a:r>
              <a:rPr lang="en-US" sz="2800" dirty="0">
                <a:latin typeface="Times New Roman" panose="02020603050405020304" pitchFamily="18" charset="0"/>
                <a:cs typeface="Times New Roman" panose="02020603050405020304" pitchFamily="18" charset="0"/>
              </a:rPr>
              <a:t>	4.Time consumption is very high</a:t>
            </a:r>
            <a:r>
              <a:rPr lang="en-US" dirty="0"/>
              <a:t>.</a:t>
            </a:r>
          </a:p>
        </p:txBody>
      </p:sp>
    </p:spTree>
    <p:extLst>
      <p:ext uri="{BB962C8B-B14F-4D97-AF65-F5344CB8AC3E}">
        <p14:creationId xmlns:p14="http://schemas.microsoft.com/office/powerpoint/2010/main" val="38524181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1" name="Rectangle 206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3" name="Rectangle 2062">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5" name="Rectangle 2064">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9" name="Freeform: Shape 2068">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Title 3">
            <a:extLst>
              <a:ext uri="{FF2B5EF4-FFF2-40B4-BE49-F238E27FC236}">
                <a16:creationId xmlns:a16="http://schemas.microsoft.com/office/drawing/2014/main" id="{973457C3-7A67-A70A-870E-D4CB8282638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3100" b="1" kern="1200">
                <a:solidFill>
                  <a:srgbClr val="FFFFFF"/>
                </a:solidFill>
                <a:latin typeface="+mj-lt"/>
                <a:ea typeface="+mj-ea"/>
                <a:cs typeface="+mj-cs"/>
              </a:rPr>
              <a:t>AGILE METHODOLOGY</a:t>
            </a:r>
          </a:p>
        </p:txBody>
      </p:sp>
      <p:pic>
        <p:nvPicPr>
          <p:cNvPr id="2056" name="Picture 8" descr="Agile Software Development Life Cycle Steps - Printable Templates Free">
            <a:extLst>
              <a:ext uri="{FF2B5EF4-FFF2-40B4-BE49-F238E27FC236}">
                <a16:creationId xmlns:a16="http://schemas.microsoft.com/office/drawing/2014/main" id="{0B0D0271-BC48-7C0B-BE49-EEA4343EB2D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502428" y="1505262"/>
            <a:ext cx="7225748" cy="3847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842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2E155AC-3A99-DE61-D3B9-ABE65C5E44A1}"/>
              </a:ext>
            </a:extLst>
          </p:cNvPr>
          <p:cNvSpPr>
            <a:spLocks noGrp="1"/>
          </p:cNvSpPr>
          <p:nvPr>
            <p:ph type="ctrTitle"/>
          </p:nvPr>
        </p:nvSpPr>
        <p:spPr>
          <a:xfrm>
            <a:off x="1524000" y="1122363"/>
            <a:ext cx="9144000" cy="1642608"/>
          </a:xfrm>
        </p:spPr>
        <p:txBody>
          <a:bodyPr>
            <a:normAutofit fontScale="90000"/>
          </a:bodyPr>
          <a:lstStyle/>
          <a:p>
            <a:pPr algn="l"/>
            <a:r>
              <a:rPr lang="en-US" sz="3600" dirty="0">
                <a:solidFill>
                  <a:srgbClr val="FF0000"/>
                </a:solidFill>
                <a:latin typeface="Times New Roman" panose="02020603050405020304" pitchFamily="18" charset="0"/>
                <a:cs typeface="Times New Roman" panose="02020603050405020304" pitchFamily="18" charset="0"/>
              </a:rPr>
              <a:t>ADVANTAGES:</a:t>
            </a:r>
            <a:br>
              <a:rPr lang="en-US" sz="4000" dirty="0">
                <a:solidFill>
                  <a:srgbClr val="FF0000"/>
                </a:solidFill>
                <a:latin typeface="Times New Roman" panose="02020603050405020304" pitchFamily="18" charset="0"/>
                <a:cs typeface="Times New Roman" panose="02020603050405020304" pitchFamily="18" charset="0"/>
              </a:rPr>
            </a:br>
            <a:r>
              <a:rPr lang="en-US" sz="4000" dirty="0">
                <a:solidFill>
                  <a:srgbClr val="FF0000"/>
                </a:solidFill>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 </a:t>
            </a:r>
            <a:r>
              <a:rPr lang="en-US" sz="3100" dirty="0">
                <a:latin typeface="Times New Roman" panose="02020603050405020304" pitchFamily="18" charset="0"/>
                <a:cs typeface="Times New Roman" panose="02020603050405020304" pitchFamily="18" charset="0"/>
              </a:rPr>
              <a:t>1.Frequent Delivery.</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2.Face to face communication with client.</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3.In between changes are allowed.</a:t>
            </a:r>
            <a:br>
              <a:rPr lang="en-US" sz="31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endParaRPr lang="en-US" sz="4000" dirty="0">
              <a:latin typeface="Times New Roman" panose="02020603050405020304" pitchFamily="18" charset="0"/>
              <a:cs typeface="Times New Roman" panose="02020603050405020304" pitchFamily="18" charset="0"/>
            </a:endParaRPr>
          </a:p>
        </p:txBody>
      </p:sp>
      <p:sp>
        <p:nvSpPr>
          <p:cNvPr id="4" name="Subtitle 3">
            <a:extLst>
              <a:ext uri="{FF2B5EF4-FFF2-40B4-BE49-F238E27FC236}">
                <a16:creationId xmlns:a16="http://schemas.microsoft.com/office/drawing/2014/main" id="{37F86A11-161D-7556-B38B-FDE5D947EE83}"/>
              </a:ext>
            </a:extLst>
          </p:cNvPr>
          <p:cNvSpPr>
            <a:spLocks noGrp="1"/>
          </p:cNvSpPr>
          <p:nvPr>
            <p:ph type="subTitle" idx="1"/>
          </p:nvPr>
        </p:nvSpPr>
        <p:spPr>
          <a:xfrm>
            <a:off x="1524000" y="3211285"/>
            <a:ext cx="9144000" cy="2906486"/>
          </a:xfrm>
        </p:spPr>
        <p:txBody>
          <a:bodyPr>
            <a:noAutofit/>
          </a:bodyPr>
          <a:lstStyle/>
          <a:p>
            <a:pPr algn="l"/>
            <a:r>
              <a:rPr lang="en-US" sz="3200" dirty="0">
                <a:solidFill>
                  <a:srgbClr val="FF0000"/>
                </a:solidFill>
                <a:latin typeface="Times New Roman" panose="02020603050405020304" pitchFamily="18" charset="0"/>
                <a:cs typeface="Times New Roman" panose="02020603050405020304" pitchFamily="18" charset="0"/>
              </a:rPr>
              <a:t>DISADVANTAGES:</a:t>
            </a:r>
          </a:p>
          <a:p>
            <a:pPr algn="l"/>
            <a:r>
              <a:rPr lang="en-US" sz="2800" dirty="0">
                <a:solidFill>
                  <a:srgbClr val="FF0000"/>
                </a:solidFill>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1.</a:t>
            </a:r>
            <a:r>
              <a:rPr lang="en-US" sz="2800" b="0" i="0" dirty="0">
                <a:effectLst/>
                <a:latin typeface="Times New Roman" panose="02020603050405020304" pitchFamily="18" charset="0"/>
                <a:cs typeface="Times New Roman" panose="02020603050405020304" pitchFamily="18" charset="0"/>
              </a:rPr>
              <a:t> More time and commitment. ... </a:t>
            </a:r>
          </a:p>
          <a:p>
            <a:pPr algn="l"/>
            <a:r>
              <a:rPr lang="en-US" sz="2800" dirty="0">
                <a:latin typeface="Times New Roman" panose="02020603050405020304" pitchFamily="18" charset="0"/>
                <a:cs typeface="Times New Roman" panose="02020603050405020304" pitchFamily="18" charset="0"/>
              </a:rPr>
              <a:t>		2. </a:t>
            </a:r>
            <a:r>
              <a:rPr lang="en-US" sz="2800" b="0" i="0" dirty="0">
                <a:effectLst/>
                <a:latin typeface="Times New Roman" panose="02020603050405020304" pitchFamily="18" charset="0"/>
                <a:cs typeface="Times New Roman" panose="02020603050405020304" pitchFamily="18" charset="0"/>
              </a:rPr>
              <a:t>Lack of necessary documentation. ...</a:t>
            </a:r>
          </a:p>
          <a:p>
            <a:pPr algn="l"/>
            <a:r>
              <a:rPr lang="en-US" sz="2800" b="0" i="0" dirty="0">
                <a:effectLst/>
                <a:latin typeface="Times New Roman" panose="02020603050405020304" pitchFamily="18" charset="0"/>
                <a:cs typeface="Times New Roman" panose="02020603050405020304" pitchFamily="18" charset="0"/>
              </a:rPr>
              <a:t>		3. Less predictable.</a:t>
            </a:r>
          </a:p>
          <a:p>
            <a:pPr algn="l"/>
            <a:r>
              <a:rPr lang="en-US" sz="2800" dirty="0">
                <a:latin typeface="Times New Roman" panose="02020603050405020304" pitchFamily="18" charset="0"/>
                <a:cs typeface="Times New Roman" panose="02020603050405020304" pitchFamily="18" charset="0"/>
              </a:rPr>
              <a:t>		4. Maintenance Problem.</a:t>
            </a:r>
            <a:endParaRPr lang="en-US" sz="2800" b="0" i="0" dirty="0">
              <a:effectLst/>
              <a:latin typeface="Times New Roman" panose="02020603050405020304" pitchFamily="18" charset="0"/>
              <a:cs typeface="Times New Roman" panose="02020603050405020304" pitchFamily="18" charset="0"/>
            </a:endParaRPr>
          </a:p>
          <a:p>
            <a:pPr algn="l"/>
            <a:r>
              <a:rPr lang="en-US" sz="2800" dirty="0">
                <a:solidFill>
                  <a:srgbClr val="1F1F1F"/>
                </a:solidFill>
                <a:latin typeface="Times New Roman" panose="02020603050405020304" pitchFamily="18" charset="0"/>
                <a:cs typeface="Times New Roman" panose="02020603050405020304" pitchFamily="18" charset="0"/>
              </a:rPr>
              <a:t>		</a:t>
            </a:r>
            <a:endParaRPr lang="en-US" sz="2800" b="0" i="0" dirty="0">
              <a:solidFill>
                <a:srgbClr val="1F1F1F"/>
              </a:solidFill>
              <a:effectLst/>
              <a:latin typeface="Times New Roman" panose="02020603050405020304" pitchFamily="18" charset="0"/>
              <a:cs typeface="Times New Roman" panose="02020603050405020304" pitchFamily="18" charset="0"/>
            </a:endParaRPr>
          </a:p>
          <a:p>
            <a:pPr algn="l"/>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16294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2" name="Rectangle 309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4" name="Rectangle 309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6" name="Rectangle 309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98" name="Rectangle 309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00" name="Freeform: Shape 309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CA4B524F-4A64-CA10-1CFC-EAE60519F967}"/>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SCRUM</a:t>
            </a:r>
          </a:p>
        </p:txBody>
      </p:sp>
      <p:pic>
        <p:nvPicPr>
          <p:cNvPr id="5" name="Content Placeholder 4" descr="A diagram of a product backlog&#10;&#10;Description automatically generated">
            <a:extLst>
              <a:ext uri="{FF2B5EF4-FFF2-40B4-BE49-F238E27FC236}">
                <a16:creationId xmlns:a16="http://schemas.microsoft.com/office/drawing/2014/main" id="{02912466-2A5A-5B0E-DD2F-448AE259640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02428" y="1812239"/>
            <a:ext cx="7225748" cy="3233522"/>
          </a:xfrm>
          <a:prstGeom prst="rect">
            <a:avLst/>
          </a:prstGeom>
        </p:spPr>
      </p:pic>
    </p:spTree>
    <p:extLst>
      <p:ext uri="{BB962C8B-B14F-4D97-AF65-F5344CB8AC3E}">
        <p14:creationId xmlns:p14="http://schemas.microsoft.com/office/powerpoint/2010/main" val="1808290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0AC66-00D7-E79F-20CA-2893CAEEFC58}"/>
              </a:ext>
            </a:extLst>
          </p:cNvPr>
          <p:cNvSpPr>
            <a:spLocks noGrp="1"/>
          </p:cNvSpPr>
          <p:nvPr>
            <p:ph type="ctrTitle"/>
          </p:nvPr>
        </p:nvSpPr>
        <p:spPr>
          <a:xfrm>
            <a:off x="1524000" y="783771"/>
            <a:ext cx="9144000" cy="1393372"/>
          </a:xfrm>
        </p:spPr>
        <p:txBody>
          <a:bodyPr>
            <a:normAutofit fontScale="90000"/>
          </a:bodyPr>
          <a:lstStyle/>
          <a:p>
            <a:pPr algn="l"/>
            <a:r>
              <a:rPr lang="en-US" sz="4000" dirty="0">
                <a:solidFill>
                  <a:srgbClr val="C00000"/>
                </a:solidFill>
                <a:latin typeface="Times New Roman" panose="02020603050405020304" pitchFamily="18" charset="0"/>
                <a:cs typeface="Times New Roman" panose="02020603050405020304" pitchFamily="18" charset="0"/>
              </a:rPr>
              <a:t>Key points:</a:t>
            </a:r>
            <a:br>
              <a:rPr lang="en-US" dirty="0"/>
            </a:br>
            <a:endParaRPr lang="en-US" dirty="0"/>
          </a:p>
        </p:txBody>
      </p:sp>
      <p:sp>
        <p:nvSpPr>
          <p:cNvPr id="3" name="Subtitle 2">
            <a:extLst>
              <a:ext uri="{FF2B5EF4-FFF2-40B4-BE49-F238E27FC236}">
                <a16:creationId xmlns:a16="http://schemas.microsoft.com/office/drawing/2014/main" id="{3B6AB2F3-0837-463D-7087-156CAE226922}"/>
              </a:ext>
            </a:extLst>
          </p:cNvPr>
          <p:cNvSpPr>
            <a:spLocks noGrp="1"/>
          </p:cNvSpPr>
          <p:nvPr>
            <p:ph type="subTitle" idx="1"/>
          </p:nvPr>
        </p:nvSpPr>
        <p:spPr>
          <a:xfrm>
            <a:off x="1524000" y="1480457"/>
            <a:ext cx="9144000" cy="4974772"/>
          </a:xfrm>
        </p:spPr>
        <p:txBody>
          <a:bodyPr>
            <a:normAutofit/>
          </a:bodyPr>
          <a:lstStyle/>
          <a:p>
            <a:pPr marL="457200" indent="-457200" algn="l">
              <a:buAutoNum type="arabicPeriod"/>
            </a:pPr>
            <a:r>
              <a:rPr lang="en-US" sz="2800" dirty="0">
                <a:latin typeface="Times New Roman" panose="02020603050405020304" pitchFamily="18" charset="0"/>
                <a:cs typeface="Times New Roman" panose="02020603050405020304" pitchFamily="18" charset="0"/>
              </a:rPr>
              <a:t>One of the most Popular agile methodology.</a:t>
            </a:r>
          </a:p>
          <a:p>
            <a:pPr marL="457200" indent="-457200" algn="l">
              <a:buAutoNum type="arabicPeriod"/>
            </a:pPr>
            <a:r>
              <a:rPr lang="en-US" sz="2800" dirty="0">
                <a:latin typeface="Times New Roman" panose="02020603050405020304" pitchFamily="18" charset="0"/>
                <a:cs typeface="Times New Roman" panose="02020603050405020304" pitchFamily="18" charset="0"/>
              </a:rPr>
              <a:t>Scrum is the lightweight, iterative and incremental framework.</a:t>
            </a:r>
          </a:p>
          <a:p>
            <a:pPr marL="457200" indent="-457200" algn="l">
              <a:buAutoNum type="arabicPeriod"/>
            </a:pPr>
            <a:r>
              <a:rPr lang="en-US" sz="2800" dirty="0">
                <a:latin typeface="Times New Roman" panose="02020603050405020304" pitchFamily="18" charset="0"/>
                <a:cs typeface="Times New Roman" panose="02020603050405020304" pitchFamily="18" charset="0"/>
              </a:rPr>
              <a:t>Scrum breaks down the development phases into stages or cycles called “Sprints”.</a:t>
            </a:r>
          </a:p>
          <a:p>
            <a:pPr marL="457200" indent="-457200" algn="l">
              <a:buAutoNum type="arabicPeriod"/>
            </a:pPr>
            <a:r>
              <a:rPr lang="en-US" sz="2800" dirty="0">
                <a:latin typeface="Times New Roman" panose="02020603050405020304" pitchFamily="18" charset="0"/>
                <a:cs typeface="Times New Roman" panose="02020603050405020304" pitchFamily="18" charset="0"/>
              </a:rPr>
              <a:t>The development time for each sprint is </a:t>
            </a:r>
            <a:r>
              <a:rPr lang="en-US" sz="2800" dirty="0" err="1">
                <a:latin typeface="Times New Roman" panose="02020603050405020304" pitchFamily="18" charset="0"/>
                <a:cs typeface="Times New Roman" panose="02020603050405020304" pitchFamily="18" charset="0"/>
              </a:rPr>
              <a:t>maximizd</a:t>
            </a:r>
            <a:r>
              <a:rPr lang="en-US" sz="2800" dirty="0">
                <a:latin typeface="Times New Roman" panose="02020603050405020304" pitchFamily="18" charset="0"/>
                <a:cs typeface="Times New Roman" panose="02020603050405020304" pitchFamily="18" charset="0"/>
              </a:rPr>
              <a:t> and dedicated, there by managing only one sprint at a time.</a:t>
            </a:r>
          </a:p>
          <a:p>
            <a:pPr marL="457200" indent="-457200" algn="l">
              <a:buAutoNum type="arabicPeriod"/>
            </a:pPr>
            <a:r>
              <a:rPr lang="en-US" sz="2800" dirty="0">
                <a:latin typeface="Times New Roman" panose="02020603050405020304" pitchFamily="18" charset="0"/>
                <a:cs typeface="Times New Roman" panose="02020603050405020304" pitchFamily="18" charset="0"/>
              </a:rPr>
              <a:t>Scrum team has scrum master and product owner with constant communications on the daily basis.</a:t>
            </a:r>
          </a:p>
          <a:p>
            <a:pPr marL="457200" indent="-457200" algn="l">
              <a:buAutoNum type="arabicPeriod"/>
            </a:pPr>
            <a:r>
              <a:rPr lang="en-US" sz="2800" dirty="0">
                <a:latin typeface="Times New Roman" panose="02020603050405020304" pitchFamily="18" charset="0"/>
                <a:cs typeface="Times New Roman" panose="02020603050405020304" pitchFamily="18" charset="0"/>
              </a:rPr>
              <a:t>Keywords: Backlog, Sprint, Daily Scrum, Scrum master, Product Owner.</a:t>
            </a:r>
          </a:p>
        </p:txBody>
      </p:sp>
    </p:spTree>
    <p:extLst>
      <p:ext uri="{BB962C8B-B14F-4D97-AF65-F5344CB8AC3E}">
        <p14:creationId xmlns:p14="http://schemas.microsoft.com/office/powerpoint/2010/main" val="2209109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EADC06B-42E0-2029-DAAF-C72A1BFF53B5}"/>
              </a:ext>
            </a:extLst>
          </p:cNvPr>
          <p:cNvSpPr>
            <a:spLocks noGrp="1"/>
          </p:cNvSpPr>
          <p:nvPr>
            <p:ph type="ctrTitle"/>
          </p:nvPr>
        </p:nvSpPr>
        <p:spPr>
          <a:xfrm>
            <a:off x="1088571" y="29345"/>
            <a:ext cx="9144000" cy="4360862"/>
          </a:xfrm>
        </p:spPr>
        <p:txBody>
          <a:bodyPr>
            <a:normAutofit fontScale="90000"/>
          </a:bodyPr>
          <a:lstStyle/>
          <a:p>
            <a:pPr algn="l"/>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br>
              <a:rPr lang="en-US" b="1" dirty="0">
                <a:solidFill>
                  <a:srgbClr val="FF0000"/>
                </a:solidFill>
              </a:rPr>
            </a:br>
            <a:r>
              <a:rPr lang="en-US" sz="3600" dirty="0">
                <a:solidFill>
                  <a:srgbClr val="FF0000"/>
                </a:solidFill>
                <a:latin typeface="Times New Roman" panose="02020603050405020304" pitchFamily="18" charset="0"/>
                <a:cs typeface="Times New Roman" panose="02020603050405020304" pitchFamily="18" charset="0"/>
              </a:rPr>
              <a:t>ADVANTAGES:</a:t>
            </a:r>
            <a:br>
              <a:rPr lang="en-US" b="1" dirty="0">
                <a:solidFill>
                  <a:srgbClr val="FF0000"/>
                </a:solidFill>
              </a:rPr>
            </a:br>
            <a:r>
              <a:rPr lang="en-US" b="1" dirty="0">
                <a:solidFill>
                  <a:srgbClr val="FF0000"/>
                </a:solidFill>
              </a:rPr>
              <a:t>		</a:t>
            </a:r>
            <a:r>
              <a:rPr lang="en-US" sz="3100" b="1" dirty="0"/>
              <a:t>1.</a:t>
            </a:r>
            <a:r>
              <a:rPr lang="en-US" sz="3100" dirty="0">
                <a:latin typeface="Times New Roman" panose="02020603050405020304" pitchFamily="18" charset="0"/>
                <a:cs typeface="Times New Roman" panose="02020603050405020304" pitchFamily="18" charset="0"/>
              </a:rPr>
              <a:t>Freedom &amp; Adaption</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2. High quality, Low risk product.</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3. Reduce the development time.</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4. Scrum customer satisfaction is very important.</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5. Reviewing the current sprint before moving to             </a:t>
            </a:r>
            <a:br>
              <a:rPr lang="en-US" sz="3100" dirty="0">
                <a:latin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                         new one. </a:t>
            </a:r>
            <a:br>
              <a:rPr lang="en-US" sz="3100" b="1" dirty="0">
                <a:solidFill>
                  <a:srgbClr val="FF0000"/>
                </a:solidFill>
              </a:rPr>
            </a:br>
            <a:endParaRPr lang="en-US" sz="3100" b="1" dirty="0">
              <a:solidFill>
                <a:srgbClr val="FF0000"/>
              </a:solidFill>
            </a:endParaRPr>
          </a:p>
        </p:txBody>
      </p:sp>
      <p:sp>
        <p:nvSpPr>
          <p:cNvPr id="5" name="Subtitle 4">
            <a:extLst>
              <a:ext uri="{FF2B5EF4-FFF2-40B4-BE49-F238E27FC236}">
                <a16:creationId xmlns:a16="http://schemas.microsoft.com/office/drawing/2014/main" id="{61D61A22-6CAE-798A-45B8-890248AFD96B}"/>
              </a:ext>
            </a:extLst>
          </p:cNvPr>
          <p:cNvSpPr>
            <a:spLocks noGrp="1"/>
          </p:cNvSpPr>
          <p:nvPr>
            <p:ph type="subTitle" idx="1"/>
          </p:nvPr>
        </p:nvSpPr>
        <p:spPr>
          <a:xfrm>
            <a:off x="1009059" y="4390207"/>
            <a:ext cx="9144000" cy="1655762"/>
          </a:xfrm>
        </p:spPr>
        <p:txBody>
          <a:bodyPr/>
          <a:lstStyle/>
          <a:p>
            <a:pPr algn="l"/>
            <a:r>
              <a:rPr lang="en-US" sz="3200" dirty="0">
                <a:solidFill>
                  <a:srgbClr val="FF0000"/>
                </a:solidFill>
                <a:latin typeface="Times New Roman" panose="02020603050405020304" pitchFamily="18" charset="0"/>
                <a:cs typeface="Times New Roman" panose="02020603050405020304" pitchFamily="18" charset="0"/>
              </a:rPr>
              <a:t>DISADVANTAGES:</a:t>
            </a:r>
          </a:p>
          <a:p>
            <a:pPr algn="l"/>
            <a:r>
              <a:rPr lang="en-US" b="1" dirty="0">
                <a:solidFill>
                  <a:srgbClr val="FF0000"/>
                </a:solidFill>
              </a:rPr>
              <a:t>		</a:t>
            </a:r>
            <a:r>
              <a:rPr lang="en-US" sz="2800" dirty="0">
                <a:latin typeface="Times New Roman" panose="02020603050405020304" pitchFamily="18" charset="0"/>
                <a:cs typeface="Times New Roman" panose="02020603050405020304" pitchFamily="18" charset="0"/>
              </a:rPr>
              <a:t>1. More efficient for small team size.</a:t>
            </a:r>
          </a:p>
          <a:p>
            <a:pPr algn="l"/>
            <a:r>
              <a:rPr lang="en-US" sz="2800" dirty="0">
                <a:latin typeface="Times New Roman" panose="02020603050405020304" pitchFamily="18" charset="0"/>
                <a:cs typeface="Times New Roman" panose="02020603050405020304" pitchFamily="18" charset="0"/>
              </a:rPr>
              <a:t>		2. No changes in the sprint.</a:t>
            </a:r>
          </a:p>
        </p:txBody>
      </p:sp>
    </p:spTree>
    <p:extLst>
      <p:ext uri="{BB962C8B-B14F-4D97-AF65-F5344CB8AC3E}">
        <p14:creationId xmlns:p14="http://schemas.microsoft.com/office/powerpoint/2010/main" val="19405934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433</TotalTime>
  <Words>1333</Words>
  <Application>Microsoft Office PowerPoint</Application>
  <PresentationFormat>Widescreen</PresentationFormat>
  <Paragraphs>90</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Montserrat</vt:lpstr>
      <vt:lpstr>Nunito</vt:lpstr>
      <vt:lpstr>Times New Roman</vt:lpstr>
      <vt:lpstr>Office Theme</vt:lpstr>
      <vt:lpstr>              SOFTWARE  ENGINEERING  INTRODUCTION Of  SOFTWARE:  1.It is a systematic, disciplines, cost effective techniques for software development 2.engineering approach to develop a software.  Evolution: 1945-65 ………… Origin ………… 1965-85 ………… Crisis  ………….  1990-2000 ……… Internet ……….. 2000-2010 ……… Light weight 2010-Till ………... AI,ML,DL       </vt:lpstr>
      <vt:lpstr>SDLC </vt:lpstr>
      <vt:lpstr>Software Development Life Cycle</vt:lpstr>
      <vt:lpstr>Classic Waterfall Model:</vt:lpstr>
      <vt:lpstr>ADVANTAGES:                 1.Base Model.                      2.Simple and Easy.                      3.Small Projects.  DISADVANTAGES:                  1.No Feedback.     2.No Experiment.     3.No Parallelism.     4.High Risk.     5.Rigid model.          </vt:lpstr>
      <vt:lpstr>                    ITERACTIVE MODEL</vt:lpstr>
      <vt:lpstr>ADVANTAGES:                       1.Base Model.    2.Simple and Easy.    3.Small Projects.    4.Feedback. DISADVANTAGES:    1.No Phase Overlapping.    2.Rigid(No change).    3.Less Customer Interaction.    4.No Intermediate Delivery. </vt:lpstr>
      <vt:lpstr>                                                                                                  V SHAPED MODEL </vt:lpstr>
      <vt:lpstr>V MODEL ARCHITECTURE</vt:lpstr>
      <vt:lpstr>  ADVANTAGES:                 1.Time Saving                     2.Good Understanding of Project in the                                     beginning                     3.Every Component must be testable.                     4.Progress can be tracked easily.                     5.Proactive defect tracking.</vt:lpstr>
      <vt:lpstr>INCREMENTAL MODEL</vt:lpstr>
      <vt:lpstr>INCREMENTAL MODEL ARCHITECTURE</vt:lpstr>
      <vt:lpstr>   ADVANTAGES: 1.It is good to use when projects having lengthy developments schedules. 2. It can deduct errors easily because core modules are used by the customer from the beginning of the phase. 3. It is easy to manage risk because of iterations. </vt:lpstr>
      <vt:lpstr> EVOLUTIONARY MODEL</vt:lpstr>
      <vt:lpstr>ADVANTAGES:                1.Risk analysis is better.               2.It supports changing environment.               3.Initial operating time is less.               4.Better suited for large mission-critical projects.               5.During the life cycle software is produced early                          which facilitates customer evaluation and feedback. </vt:lpstr>
      <vt:lpstr>PROTOTYPE MODEL</vt:lpstr>
      <vt:lpstr>ADVANTAGES:                 1.This model is flexible in design.                   2.It is easy to detect errors.                   3.We can find missing functionality easily.                   4.It can be reused by the developer for more complicated                                  projects in the future. </vt:lpstr>
      <vt:lpstr>RAPID APPLICATION DEVELOPMENT(RAD)</vt:lpstr>
      <vt:lpstr>RAD Model Diagram</vt:lpstr>
      <vt:lpstr>     ADVANTAGES:  1. This model is flexible for change.  2. In this model, changes are adoptable.  3. It reduced development time.  4. It increases the reusability of features.     </vt:lpstr>
      <vt:lpstr>SPIRAL MODEL</vt:lpstr>
      <vt:lpstr>ADVANTAGES:            1. Software is produced early in the software life cycle.   2.Risk Handling.  3.It is used in Large projects.  4.It is Flexible changes.  5.Customer Satisfaction </vt:lpstr>
      <vt:lpstr>AGILE METHODOLOGY</vt:lpstr>
      <vt:lpstr>ADVANTAGES:         1.Frequent Delivery.            2.Face to face communication with client.            3.In between changes are allowed.            </vt:lpstr>
      <vt:lpstr>SCRUM</vt:lpstr>
      <vt:lpstr>Key points: </vt:lpstr>
      <vt:lpstr>         ADVANTAGES:   1.Freedom &amp; Adaption   2. High quality, Low risk product.   3. Reduce the development time.   4. Scrum customer satisfaction is very important.   5. Reviewing the current sprint before moving to                                       new one.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dc:creator>
  <cp:lastModifiedBy>Kandula Baskar Rao</cp:lastModifiedBy>
  <cp:revision>28</cp:revision>
  <dcterms:created xsi:type="dcterms:W3CDTF">2024-11-20T06:51:39Z</dcterms:created>
  <dcterms:modified xsi:type="dcterms:W3CDTF">2026-10-16T03:52:30Z</dcterms:modified>
</cp:coreProperties>
</file>